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8" r:id="rId3"/>
    <p:sldId id="257" r:id="rId4"/>
    <p:sldId id="259" r:id="rId5"/>
    <p:sldId id="266" r:id="rId6"/>
    <p:sldId id="260" r:id="rId7"/>
    <p:sldId id="261" r:id="rId8"/>
    <p:sldId id="267" r:id="rId9"/>
    <p:sldId id="262" r:id="rId10"/>
    <p:sldId id="263" r:id="rId11"/>
    <p:sldId id="264" r:id="rId12"/>
    <p:sldId id="268"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4" d="100"/>
          <a:sy n="64" d="100"/>
        </p:scale>
        <p:origin x="724"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033457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2C533-E26C-C133-D7A9-82F49E9474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0A3321-51D9-02CD-8446-C0DEBAEA79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4DA43B-E11D-5EDF-6CBF-ACEA244E7F2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71CCF54-B0C8-074B-82A8-C2942D849E1D}"/>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5099686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bing.com/ck/a?!&amp;&amp;p=44e1dd37cb79ce21f394e80307b051c5e6f3dc7530c8b34dd568c917c3a38737JmltdHM9MTc3ODU0NDAwMA&amp;ptn=3&amp;ver=2&amp;hsh=4&amp;fclid=17d90759-4d7a-69e3-1d02-11464c726864&amp;psq=Hausse+des+drones+militaires+&amp;u=a1aHR0cHM6Ly93d3cuZ21pbnNpZ2h0cy5jb20vZnIvaW5kdXN0cnktYW5hbHlzaXMvbWlsaXRhcnktZHJvbmUtbWFya2V0&amp;ntb=1"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5.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120"/>
        </a:solidFill>
        <a:effectLst/>
      </p:bgPr>
    </p:bg>
    <p:spTree>
      <p:nvGrpSpPr>
        <p:cNvPr id="1" name=""/>
        <p:cNvGrpSpPr/>
        <p:nvPr/>
      </p:nvGrpSpPr>
      <p:grpSpPr>
        <a:xfrm>
          <a:off x="0" y="0"/>
          <a:ext cx="0" cy="0"/>
          <a:chOff x="0" y="0"/>
          <a:chExt cx="0" cy="0"/>
        </a:xfrm>
      </p:grpSpPr>
      <p:sp>
        <p:nvSpPr>
          <p:cNvPr id="2" name="Shape 0"/>
          <p:cNvSpPr/>
          <p:nvPr/>
        </p:nvSpPr>
        <p:spPr>
          <a:xfrm>
            <a:off x="457200" y="457200"/>
            <a:ext cx="457200" cy="457200"/>
          </a:xfrm>
          <a:prstGeom prst="rect">
            <a:avLst/>
          </a:prstGeom>
          <a:solidFill>
            <a:srgbClr val="06B6D4"/>
          </a:solidFill>
          <a:ln/>
        </p:spPr>
      </p:sp>
      <p:sp>
        <p:nvSpPr>
          <p:cNvPr id="3" name="Text 1"/>
          <p:cNvSpPr/>
          <p:nvPr/>
        </p:nvSpPr>
        <p:spPr>
          <a:xfrm>
            <a:off x="457200" y="457200"/>
            <a:ext cx="457200" cy="45720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a:t>
            </a:r>
            <a:endParaRPr lang="en-US" sz="2200" dirty="0"/>
          </a:p>
        </p:txBody>
      </p:sp>
      <p:sp>
        <p:nvSpPr>
          <p:cNvPr id="4" name="Text 2"/>
          <p:cNvSpPr/>
          <p:nvPr/>
        </p:nvSpPr>
        <p:spPr>
          <a:xfrm>
            <a:off x="457200" y="2194560"/>
            <a:ext cx="7315200" cy="365760"/>
          </a:xfrm>
          <a:prstGeom prst="rect">
            <a:avLst/>
          </a:prstGeom>
          <a:noFill/>
          <a:ln/>
        </p:spPr>
        <p:txBody>
          <a:bodyPr wrap="square" lIns="0" tIns="0" rIns="0" bIns="0" rtlCol="0" anchor="ctr"/>
          <a:lstStyle/>
          <a:p>
            <a:pPr marL="0" indent="0">
              <a:buNone/>
            </a:pPr>
            <a:r>
              <a:rPr lang="en-US" sz="1200" b="1" kern="0" spc="800" dirty="0">
                <a:solidFill>
                  <a:srgbClr val="06B6D4"/>
                </a:solidFill>
                <a:latin typeface="Calibri" pitchFamily="34" charset="0"/>
                <a:ea typeface="Calibri" pitchFamily="34" charset="-122"/>
                <a:cs typeface="Calibri" pitchFamily="34" charset="-120"/>
              </a:rPr>
              <a:t>PROJET LLM · 2026</a:t>
            </a:r>
            <a:endParaRPr lang="en-US" sz="1200" dirty="0"/>
          </a:p>
        </p:txBody>
      </p:sp>
      <p:sp>
        <p:nvSpPr>
          <p:cNvPr id="5" name="Text 3"/>
          <p:cNvSpPr/>
          <p:nvPr/>
        </p:nvSpPr>
        <p:spPr>
          <a:xfrm>
            <a:off x="457200" y="2606040"/>
            <a:ext cx="10972800" cy="1645920"/>
          </a:xfrm>
          <a:prstGeom prst="rect">
            <a:avLst/>
          </a:prstGeom>
          <a:noFill/>
          <a:ln/>
        </p:spPr>
        <p:txBody>
          <a:bodyPr wrap="square" lIns="0" tIns="0" rIns="0" bIns="0" rtlCol="0" anchor="ctr"/>
          <a:lstStyle/>
          <a:p>
            <a:pPr marL="0" indent="0">
              <a:buNone/>
            </a:pPr>
            <a:r>
              <a:rPr lang="en-US" sz="14000" b="1" kern="0" spc="-200" dirty="0">
                <a:solidFill>
                  <a:srgbClr val="FFFFFF"/>
                </a:solidFill>
                <a:latin typeface="Calibri" pitchFamily="34" charset="0"/>
                <a:ea typeface="Calibri" pitchFamily="34" charset="-122"/>
                <a:cs typeface="Calibri" pitchFamily="34" charset="-120"/>
              </a:rPr>
              <a:t>AI-R</a:t>
            </a:r>
            <a:endParaRPr lang="en-US" sz="14000" dirty="0"/>
          </a:p>
        </p:txBody>
      </p:sp>
      <p:sp>
        <p:nvSpPr>
          <p:cNvPr id="6" name="Text 4"/>
          <p:cNvSpPr/>
          <p:nvPr/>
        </p:nvSpPr>
        <p:spPr>
          <a:xfrm>
            <a:off x="457200" y="4297680"/>
            <a:ext cx="10972800" cy="457200"/>
          </a:xfrm>
          <a:prstGeom prst="rect">
            <a:avLst/>
          </a:prstGeom>
          <a:noFill/>
          <a:ln/>
        </p:spPr>
        <p:txBody>
          <a:bodyPr wrap="square" lIns="0" tIns="0" rIns="0" bIns="0" rtlCol="0" anchor="ctr"/>
          <a:lstStyle/>
          <a:p>
            <a:pPr marL="0" indent="0">
              <a:buNone/>
            </a:pPr>
            <a:r>
              <a:rPr lang="fr-FR" sz="2200" dirty="0">
                <a:solidFill>
                  <a:srgbClr val="E0E7FF"/>
                </a:solidFill>
                <a:latin typeface="Calibri" pitchFamily="34" charset="0"/>
                <a:cs typeface="Calibri" pitchFamily="34" charset="-120"/>
              </a:rPr>
              <a:t>E</a:t>
            </a:r>
            <a:r>
              <a:rPr lang="en-US" sz="2200" dirty="0" err="1">
                <a:solidFill>
                  <a:srgbClr val="E0E7FF"/>
                </a:solidFill>
                <a:latin typeface="Calibri" pitchFamily="34" charset="0"/>
                <a:cs typeface="Calibri" pitchFamily="34" charset="-120"/>
              </a:rPr>
              <a:t>nvoyez</a:t>
            </a:r>
            <a:r>
              <a:rPr lang="en-US" sz="2200" dirty="0">
                <a:solidFill>
                  <a:srgbClr val="E0E7FF"/>
                </a:solidFill>
                <a:latin typeface="Calibri" pitchFamily="34" charset="0"/>
                <a:cs typeface="Calibri" pitchFamily="34" charset="-120"/>
              </a:rPr>
              <a:t> </a:t>
            </a:r>
            <a:r>
              <a:rPr lang="en-US" sz="2200" dirty="0" err="1">
                <a:solidFill>
                  <a:srgbClr val="E0E7FF"/>
                </a:solidFill>
                <a:latin typeface="Calibri" pitchFamily="34" charset="0"/>
                <a:cs typeface="Calibri" pitchFamily="34" charset="-120"/>
              </a:rPr>
              <a:t>l’IA</a:t>
            </a:r>
            <a:r>
              <a:rPr lang="en-US" sz="2200" dirty="0">
                <a:solidFill>
                  <a:srgbClr val="E0E7FF"/>
                </a:solidFill>
                <a:latin typeface="Calibri" pitchFamily="34" charset="0"/>
                <a:cs typeface="Calibri" pitchFamily="34" charset="-120"/>
              </a:rPr>
              <a:t> au front</a:t>
            </a:r>
            <a:endParaRPr lang="en-US" sz="2200" dirty="0"/>
          </a:p>
        </p:txBody>
      </p:sp>
      <p:sp>
        <p:nvSpPr>
          <p:cNvPr id="7" name="Text 5"/>
          <p:cNvSpPr/>
          <p:nvPr/>
        </p:nvSpPr>
        <p:spPr>
          <a:xfrm>
            <a:off x="457200" y="4846320"/>
            <a:ext cx="10972800" cy="365760"/>
          </a:xfrm>
          <a:prstGeom prst="rect">
            <a:avLst/>
          </a:prstGeom>
          <a:noFill/>
          <a:ln/>
        </p:spPr>
        <p:txBody>
          <a:bodyPr wrap="square" lIns="0" tIns="0" rIns="0" bIns="0" rtlCol="0" anchor="ctr"/>
          <a:lstStyle/>
          <a:p>
            <a:pPr marL="0" indent="0">
              <a:buNone/>
            </a:pPr>
            <a:r>
              <a:rPr lang="en-US" sz="1400" kern="0" spc="400" dirty="0">
                <a:solidFill>
                  <a:srgbClr val="94A3B8"/>
                </a:solidFill>
                <a:latin typeface="Calibri" pitchFamily="34" charset="0"/>
                <a:ea typeface="Calibri" pitchFamily="34" charset="-122"/>
                <a:cs typeface="Calibri" pitchFamily="34" charset="-120"/>
              </a:rPr>
              <a:t>Tello EDU   ·   YOLOv8   ·   Llama 3.3 70B</a:t>
            </a:r>
            <a:endParaRPr lang="en-US" sz="1400" dirty="0"/>
          </a:p>
        </p:txBody>
      </p:sp>
      <p:sp>
        <p:nvSpPr>
          <p:cNvPr id="8" name="Text 6"/>
          <p:cNvSpPr/>
          <p:nvPr/>
        </p:nvSpPr>
        <p:spPr>
          <a:xfrm>
            <a:off x="7329115" y="4754880"/>
            <a:ext cx="4100885" cy="2001741"/>
          </a:xfrm>
          <a:prstGeom prst="rect">
            <a:avLst/>
          </a:prstGeom>
          <a:noFill/>
          <a:ln/>
        </p:spPr>
        <p:txBody>
          <a:bodyPr wrap="square" lIns="0" tIns="0" rIns="0" bIns="0" rtlCol="0" anchor="ctr"/>
          <a:lstStyle/>
          <a:p>
            <a:pPr marL="0" indent="0" algn="r">
              <a:buNone/>
            </a:pPr>
            <a:r>
              <a:rPr lang="en-US" sz="2400" dirty="0">
                <a:solidFill>
                  <a:srgbClr val="94A3B8"/>
                </a:solidFill>
                <a:latin typeface="Calibri" pitchFamily="34" charset="0"/>
                <a:ea typeface="Calibri" pitchFamily="34" charset="-122"/>
                <a:cs typeface="Calibri" pitchFamily="34" charset="-120"/>
              </a:rPr>
              <a:t>Mehdi Tidjani · </a:t>
            </a:r>
          </a:p>
          <a:p>
            <a:pPr marL="0" indent="0" algn="r">
              <a:buNone/>
            </a:pPr>
            <a:r>
              <a:rPr lang="en-US" sz="2400" dirty="0">
                <a:solidFill>
                  <a:srgbClr val="94A3B8"/>
                </a:solidFill>
                <a:latin typeface="Calibri" pitchFamily="34" charset="0"/>
                <a:cs typeface="Calibri" pitchFamily="34" charset="-120"/>
              </a:rPr>
              <a:t>FEUDJEU II La Grace</a:t>
            </a:r>
            <a:endParaRPr lang="en-US" sz="2400" dirty="0"/>
          </a:p>
        </p:txBody>
      </p:sp>
      <p:sp>
        <p:nvSpPr>
          <p:cNvPr id="9" name="Shape 7"/>
          <p:cNvSpPr/>
          <p:nvPr/>
        </p:nvSpPr>
        <p:spPr>
          <a:xfrm>
            <a:off x="9875520" y="457200"/>
            <a:ext cx="0" cy="1097280"/>
          </a:xfrm>
          <a:prstGeom prst="line">
            <a:avLst/>
          </a:prstGeom>
          <a:noFill/>
          <a:ln w="12700">
            <a:solidFill>
              <a:srgbClr val="4338CA"/>
            </a:solidFill>
            <a:prstDash val="solid"/>
          </a:ln>
        </p:spPr>
      </p:sp>
      <p:sp>
        <p:nvSpPr>
          <p:cNvPr id="10" name="Shape 8"/>
          <p:cNvSpPr/>
          <p:nvPr/>
        </p:nvSpPr>
        <p:spPr>
          <a:xfrm>
            <a:off x="10040112" y="457200"/>
            <a:ext cx="0" cy="1097280"/>
          </a:xfrm>
          <a:prstGeom prst="line">
            <a:avLst/>
          </a:prstGeom>
          <a:noFill/>
          <a:ln w="12700">
            <a:solidFill>
              <a:srgbClr val="4338CA"/>
            </a:solidFill>
            <a:prstDash val="solid"/>
          </a:ln>
        </p:spPr>
      </p:sp>
      <p:sp>
        <p:nvSpPr>
          <p:cNvPr id="11" name="Shape 9"/>
          <p:cNvSpPr/>
          <p:nvPr/>
        </p:nvSpPr>
        <p:spPr>
          <a:xfrm>
            <a:off x="10204704" y="457200"/>
            <a:ext cx="0" cy="1097280"/>
          </a:xfrm>
          <a:prstGeom prst="line">
            <a:avLst/>
          </a:prstGeom>
          <a:noFill/>
          <a:ln w="12700">
            <a:solidFill>
              <a:srgbClr val="4338CA"/>
            </a:solidFill>
            <a:prstDash val="solid"/>
          </a:ln>
        </p:spPr>
      </p:sp>
      <p:sp>
        <p:nvSpPr>
          <p:cNvPr id="12" name="Shape 10"/>
          <p:cNvSpPr/>
          <p:nvPr/>
        </p:nvSpPr>
        <p:spPr>
          <a:xfrm>
            <a:off x="10369296" y="457200"/>
            <a:ext cx="0" cy="1097280"/>
          </a:xfrm>
          <a:prstGeom prst="line">
            <a:avLst/>
          </a:prstGeom>
          <a:noFill/>
          <a:ln w="12700">
            <a:solidFill>
              <a:srgbClr val="4338CA"/>
            </a:solidFill>
            <a:prstDash val="solid"/>
          </a:ln>
        </p:spPr>
      </p:sp>
      <p:sp>
        <p:nvSpPr>
          <p:cNvPr id="13" name="Text 13">
            <a:extLst>
              <a:ext uri="{FF2B5EF4-FFF2-40B4-BE49-F238E27FC236}">
                <a16:creationId xmlns:a16="http://schemas.microsoft.com/office/drawing/2014/main" id="{2B442B56-41BE-9F24-A788-BC0B9BEF41C6}"/>
              </a:ext>
            </a:extLst>
          </p:cNvPr>
          <p:cNvSpPr/>
          <p:nvPr/>
        </p:nvSpPr>
        <p:spPr>
          <a:xfrm>
            <a:off x="7589520" y="6400800"/>
            <a:ext cx="4114800" cy="274320"/>
          </a:xfrm>
          <a:prstGeom prst="rect">
            <a:avLst/>
          </a:prstGeom>
          <a:noFill/>
          <a:ln/>
        </p:spPr>
        <p:txBody>
          <a:bodyPr wrap="square" lIns="0" tIns="0" rIns="0" bIns="0" rtlCol="0" anchor="ctr"/>
          <a:lstStyle/>
          <a:p>
            <a:pPr marL="0" indent="0" algn="r">
              <a:buNone/>
            </a:pPr>
            <a:r>
              <a:rPr lang="en-US" sz="1100" kern="0" spc="200" dirty="0">
                <a:solidFill>
                  <a:srgbClr val="06B6D4"/>
                </a:solidFill>
                <a:latin typeface="Calibri" pitchFamily="34" charset="0"/>
                <a:ea typeface="Calibri" pitchFamily="34" charset="-122"/>
                <a:cs typeface="Calibri" pitchFamily="34" charset="-120"/>
              </a:rPr>
              <a:t>github.com/devMehdi485/Ai-r</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457200" y="502920"/>
            <a:ext cx="73152" cy="640080"/>
          </a:xfrm>
          <a:prstGeom prst="rect">
            <a:avLst/>
          </a:prstGeom>
          <a:solidFill>
            <a:srgbClr val="06B6D4"/>
          </a:solidFill>
          <a:ln/>
        </p:spPr>
      </p:sp>
      <p:sp>
        <p:nvSpPr>
          <p:cNvPr id="3" name="Text 1"/>
          <p:cNvSpPr/>
          <p:nvPr/>
        </p:nvSpPr>
        <p:spPr>
          <a:xfrm>
            <a:off x="713232" y="457200"/>
            <a:ext cx="10789920" cy="731520"/>
          </a:xfrm>
          <a:prstGeom prst="rect">
            <a:avLst/>
          </a:prstGeom>
          <a:noFill/>
          <a:ln/>
        </p:spPr>
        <p:txBody>
          <a:bodyPr wrap="square" lIns="0" tIns="0" rIns="0" bIns="0" rtlCol="0" anchor="ctr"/>
          <a:lstStyle/>
          <a:p>
            <a:pPr marL="0" indent="0" algn="l">
              <a:buNone/>
            </a:pPr>
            <a:r>
              <a:rPr lang="en-US" sz="3200" b="1" dirty="0">
                <a:solidFill>
                  <a:srgbClr val="1E293B"/>
                </a:solidFill>
                <a:latin typeface="Calibri" pitchFamily="34" charset="0"/>
                <a:ea typeface="Calibri" pitchFamily="34" charset="-122"/>
                <a:cs typeface="Calibri" pitchFamily="34" charset="-120"/>
              </a:rPr>
              <a:t>Introduction et Contexte</a:t>
            </a:r>
            <a:endParaRPr lang="en-US" sz="3200" dirty="0"/>
          </a:p>
        </p:txBody>
      </p:sp>
      <p:sp>
        <p:nvSpPr>
          <p:cNvPr id="4" name="Text 2"/>
          <p:cNvSpPr/>
          <p:nvPr/>
        </p:nvSpPr>
        <p:spPr>
          <a:xfrm>
            <a:off x="713232" y="1143000"/>
            <a:ext cx="9144000" cy="365760"/>
          </a:xfrm>
          <a:prstGeom prst="rect">
            <a:avLst/>
          </a:prstGeom>
          <a:noFill/>
          <a:ln/>
        </p:spPr>
        <p:txBody>
          <a:bodyPr wrap="square" lIns="0" tIns="0" rIns="0" bIns="0" rtlCol="0" anchor="ctr"/>
          <a:lstStyle/>
          <a:p>
            <a:pPr marL="0" indent="0">
              <a:buNone/>
            </a:pPr>
            <a:r>
              <a:rPr lang="en-US" sz="1300" kern="0" spc="400" dirty="0">
                <a:solidFill>
                  <a:srgbClr val="475569"/>
                </a:solidFill>
                <a:latin typeface="Calibri" pitchFamily="34" charset="0"/>
                <a:ea typeface="Calibri" pitchFamily="34" charset="-122"/>
                <a:cs typeface="Calibri" pitchFamily="34" charset="-120"/>
              </a:rPr>
              <a:t>01 · Pourquoi un drone intelligent en 2026 ?</a:t>
            </a:r>
            <a:endParaRPr lang="en-US" sz="1300" dirty="0"/>
          </a:p>
        </p:txBody>
      </p:sp>
      <p:sp>
        <p:nvSpPr>
          <p:cNvPr id="5" name="Text 3"/>
          <p:cNvSpPr/>
          <p:nvPr/>
        </p:nvSpPr>
        <p:spPr>
          <a:xfrm>
            <a:off x="799106" y="4160520"/>
            <a:ext cx="5669280" cy="640080"/>
          </a:xfrm>
          <a:prstGeom prst="rect">
            <a:avLst/>
          </a:prstGeom>
          <a:noFill/>
          <a:ln/>
        </p:spPr>
        <p:txBody>
          <a:bodyPr wrap="square" lIns="0" tIns="0" rIns="0" bIns="0" rtlCol="0" anchor="ctr"/>
          <a:lstStyle/>
          <a:p>
            <a:pPr marL="0" indent="0">
              <a:spcAft>
                <a:spcPts val="600"/>
              </a:spcAft>
              <a:buNone/>
            </a:pPr>
            <a:endParaRPr lang="en-US" sz="1400" dirty="0"/>
          </a:p>
        </p:txBody>
      </p:sp>
      <p:sp>
        <p:nvSpPr>
          <p:cNvPr id="6" name="Text 4"/>
          <p:cNvSpPr/>
          <p:nvPr/>
        </p:nvSpPr>
        <p:spPr>
          <a:xfrm>
            <a:off x="975625" y="1746334"/>
            <a:ext cx="5669280" cy="2414186"/>
          </a:xfrm>
          <a:prstGeom prst="rect">
            <a:avLst/>
          </a:prstGeom>
          <a:noFill/>
          <a:ln/>
        </p:spPr>
        <p:txBody>
          <a:bodyPr wrap="square" lIns="0" tIns="0" rIns="0" bIns="0" rtlCol="0" anchor="ctr"/>
          <a:lstStyle/>
          <a:p>
            <a:r>
              <a:rPr lang="en-US" sz="1600" dirty="0"/>
              <a:t>Les </a:t>
            </a:r>
            <a:r>
              <a:rPr lang="en-US" sz="1600" dirty="0" err="1"/>
              <a:t>contextes</a:t>
            </a:r>
            <a:r>
              <a:rPr lang="en-US" sz="1600" dirty="0"/>
              <a:t> </a:t>
            </a:r>
            <a:r>
              <a:rPr lang="en-US" sz="1600" dirty="0" err="1"/>
              <a:t>sécuritaires</a:t>
            </a:r>
            <a:r>
              <a:rPr lang="en-US" sz="1600" dirty="0"/>
              <a:t> de </a:t>
            </a:r>
            <a:r>
              <a:rPr lang="en-US" sz="1600" dirty="0" err="1"/>
              <a:t>certains</a:t>
            </a:r>
            <a:r>
              <a:rPr lang="en-US" sz="1600" dirty="0"/>
              <a:t> pays </a:t>
            </a:r>
            <a:r>
              <a:rPr lang="en-US" sz="1600" dirty="0" err="1"/>
              <a:t>obligent</a:t>
            </a:r>
            <a:r>
              <a:rPr lang="en-US" sz="1600" dirty="0"/>
              <a:t> </a:t>
            </a:r>
            <a:r>
              <a:rPr lang="en-US" sz="1600" dirty="0" err="1"/>
              <a:t>parfois</a:t>
            </a:r>
            <a:r>
              <a:rPr lang="en-US" sz="1600" dirty="0"/>
              <a:t> les </a:t>
            </a:r>
            <a:r>
              <a:rPr lang="en-US" sz="1600" dirty="0" err="1"/>
              <a:t>gouvernements</a:t>
            </a:r>
            <a:r>
              <a:rPr lang="en-US" sz="1600" dirty="0"/>
              <a:t> de </a:t>
            </a:r>
            <a:r>
              <a:rPr lang="en-US" sz="1600" dirty="0" err="1"/>
              <a:t>ceux</a:t>
            </a:r>
            <a:r>
              <a:rPr lang="en-US" sz="1600" dirty="0"/>
              <a:t>-ci à mobiliser les </a:t>
            </a:r>
            <a:r>
              <a:rPr lang="en-US" sz="1600" dirty="0" err="1"/>
              <a:t>citoyens</a:t>
            </a:r>
            <a:r>
              <a:rPr lang="en-US" sz="1600" dirty="0"/>
              <a:t> </a:t>
            </a:r>
            <a:r>
              <a:rPr lang="en-US" sz="1600" dirty="0" err="1"/>
              <a:t>ou</a:t>
            </a:r>
            <a:r>
              <a:rPr lang="en-US" sz="1600" dirty="0"/>
              <a:t> des VDPs pour </a:t>
            </a:r>
            <a:r>
              <a:rPr lang="en-US" sz="1600" dirty="0" err="1"/>
              <a:t>participer</a:t>
            </a:r>
            <a:r>
              <a:rPr lang="en-US" sz="1600" dirty="0"/>
              <a:t> à la protection du pays. </a:t>
            </a:r>
            <a:r>
              <a:rPr lang="fr-FR" sz="1600" dirty="0"/>
              <a:t>Dans le chaos (guerre ou catastrophe), les zones les plus critiques sont inaccessibles. Les routes sont détruites, les ponts sont coupés, ou la zone est sous le feu ennemi.</a:t>
            </a:r>
            <a:endParaRPr lang="en-US" sz="1600" dirty="0"/>
          </a:p>
          <a:p>
            <a:endParaRPr lang="en-US" sz="1600" dirty="0"/>
          </a:p>
          <a:p>
            <a:r>
              <a:rPr lang="fr-FR" sz="1600" dirty="0"/>
              <a:t>Le constat est simple : chaque mission de reconnaissance ou d'intervention comporte un risque vital. Actuellement, on envoie des hommes là où le danger est maximal."</a:t>
            </a:r>
            <a:endParaRPr lang="en-US" sz="1600" dirty="0"/>
          </a:p>
        </p:txBody>
      </p:sp>
      <p:sp>
        <p:nvSpPr>
          <p:cNvPr id="11" name="Text 8"/>
          <p:cNvSpPr/>
          <p:nvPr/>
        </p:nvSpPr>
        <p:spPr>
          <a:xfrm>
            <a:off x="8046720" y="1965960"/>
            <a:ext cx="3840480" cy="502920"/>
          </a:xfrm>
          <a:prstGeom prst="rect">
            <a:avLst/>
          </a:prstGeom>
          <a:noFill/>
          <a:ln/>
        </p:spPr>
        <p:txBody>
          <a:bodyPr wrap="square" lIns="0" tIns="0" rIns="0" bIns="0" rtlCol="0" anchor="ctr"/>
          <a:lstStyle/>
          <a:p>
            <a:pPr marL="0" indent="0">
              <a:buNone/>
            </a:pPr>
            <a:endParaRPr lang="en-US" sz="2800" dirty="0"/>
          </a:p>
        </p:txBody>
      </p:sp>
      <p:sp>
        <p:nvSpPr>
          <p:cNvPr id="12" name="Text 9"/>
          <p:cNvSpPr/>
          <p:nvPr/>
        </p:nvSpPr>
        <p:spPr>
          <a:xfrm>
            <a:off x="8046720" y="2468880"/>
            <a:ext cx="3840480" cy="411480"/>
          </a:xfrm>
          <a:prstGeom prst="rect">
            <a:avLst/>
          </a:prstGeom>
          <a:noFill/>
          <a:ln/>
        </p:spPr>
        <p:txBody>
          <a:bodyPr wrap="square" lIns="0" tIns="0" rIns="0" bIns="0" rtlCol="0" anchor="ctr"/>
          <a:lstStyle/>
          <a:p>
            <a:pPr marL="0" indent="0">
              <a:buNone/>
            </a:pPr>
            <a:endParaRPr lang="en-US" sz="1100" dirty="0"/>
          </a:p>
        </p:txBody>
      </p:sp>
      <p:sp>
        <p:nvSpPr>
          <p:cNvPr id="17" name="Text 13"/>
          <p:cNvSpPr/>
          <p:nvPr/>
        </p:nvSpPr>
        <p:spPr>
          <a:xfrm>
            <a:off x="8046720" y="3383280"/>
            <a:ext cx="3840480" cy="502920"/>
          </a:xfrm>
          <a:prstGeom prst="rect">
            <a:avLst/>
          </a:prstGeom>
          <a:noFill/>
          <a:ln/>
        </p:spPr>
        <p:txBody>
          <a:bodyPr wrap="square" lIns="0" tIns="0" rIns="0" bIns="0" rtlCol="0" anchor="ctr"/>
          <a:lstStyle/>
          <a:p>
            <a:pPr marL="0" indent="0">
              <a:buNone/>
            </a:pPr>
            <a:endParaRPr lang="en-US" sz="2800" dirty="0"/>
          </a:p>
        </p:txBody>
      </p:sp>
      <p:sp>
        <p:nvSpPr>
          <p:cNvPr id="18" name="Text 14"/>
          <p:cNvSpPr/>
          <p:nvPr/>
        </p:nvSpPr>
        <p:spPr>
          <a:xfrm>
            <a:off x="8046720" y="3886200"/>
            <a:ext cx="3840480" cy="411480"/>
          </a:xfrm>
          <a:prstGeom prst="rect">
            <a:avLst/>
          </a:prstGeom>
          <a:noFill/>
          <a:ln/>
        </p:spPr>
        <p:txBody>
          <a:bodyPr wrap="square" lIns="0" tIns="0" rIns="0" bIns="0" rtlCol="0" anchor="ctr"/>
          <a:lstStyle/>
          <a:p>
            <a:pPr marL="0" indent="0">
              <a:buNone/>
            </a:pPr>
            <a:endParaRPr lang="en-US" sz="1100" dirty="0"/>
          </a:p>
        </p:txBody>
      </p:sp>
      <p:sp>
        <p:nvSpPr>
          <p:cNvPr id="23" name="Text 18"/>
          <p:cNvSpPr/>
          <p:nvPr/>
        </p:nvSpPr>
        <p:spPr>
          <a:xfrm>
            <a:off x="8046720" y="4800600"/>
            <a:ext cx="3840480" cy="502920"/>
          </a:xfrm>
          <a:prstGeom prst="rect">
            <a:avLst/>
          </a:prstGeom>
          <a:noFill/>
          <a:ln/>
        </p:spPr>
        <p:txBody>
          <a:bodyPr wrap="square" lIns="0" tIns="0" rIns="0" bIns="0" rtlCol="0" anchor="ctr"/>
          <a:lstStyle/>
          <a:p>
            <a:pPr marL="0" indent="0">
              <a:buNone/>
            </a:pPr>
            <a:endParaRPr lang="en-US" sz="2800" dirty="0"/>
          </a:p>
        </p:txBody>
      </p:sp>
      <p:sp>
        <p:nvSpPr>
          <p:cNvPr id="24" name="Text 19"/>
          <p:cNvSpPr/>
          <p:nvPr/>
        </p:nvSpPr>
        <p:spPr>
          <a:xfrm>
            <a:off x="8046720" y="5303520"/>
            <a:ext cx="3840480" cy="411480"/>
          </a:xfrm>
          <a:prstGeom prst="rect">
            <a:avLst/>
          </a:prstGeom>
          <a:noFill/>
          <a:ln/>
        </p:spPr>
        <p:txBody>
          <a:bodyPr wrap="square" lIns="0" tIns="0" rIns="0" bIns="0" rtlCol="0" anchor="ctr"/>
          <a:lstStyle/>
          <a:p>
            <a:pPr marL="0" indent="0">
              <a:buNone/>
            </a:pPr>
            <a:endParaRPr lang="en-US" sz="1100" dirty="0"/>
          </a:p>
        </p:txBody>
      </p:sp>
      <p:sp>
        <p:nvSpPr>
          <p:cNvPr id="25" name="Text 20"/>
          <p:cNvSpPr/>
          <p:nvPr/>
        </p:nvSpPr>
        <p:spPr>
          <a:xfrm>
            <a:off x="10881360" y="6473952"/>
            <a:ext cx="914400" cy="274320"/>
          </a:xfrm>
          <a:prstGeom prst="rect">
            <a:avLst/>
          </a:prstGeom>
          <a:noFill/>
          <a:ln/>
        </p:spPr>
        <p:txBody>
          <a:bodyPr wrap="square" lIns="0" tIns="0" rIns="0" bIns="0" rtlCol="0" anchor="ctr"/>
          <a:lstStyle/>
          <a:p>
            <a:pPr marL="0" indent="0" algn="r">
              <a:buNone/>
            </a:pPr>
            <a:r>
              <a:rPr lang="en-US" sz="900" kern="0" spc="400" dirty="0">
                <a:solidFill>
                  <a:srgbClr val="94A3B8"/>
                </a:solidFill>
                <a:latin typeface="Calibri" pitchFamily="34" charset="0"/>
                <a:ea typeface="Calibri" pitchFamily="34" charset="-122"/>
                <a:cs typeface="Calibri" pitchFamily="34" charset="-120"/>
              </a:rPr>
              <a:t>02 / 09</a:t>
            </a:r>
            <a:endParaRPr lang="en-US" sz="900" dirty="0"/>
          </a:p>
        </p:txBody>
      </p:sp>
      <p:sp>
        <p:nvSpPr>
          <p:cNvPr id="26" name="Text 21"/>
          <p:cNvSpPr/>
          <p:nvPr/>
        </p:nvSpPr>
        <p:spPr>
          <a:xfrm>
            <a:off x="457200" y="6473952"/>
            <a:ext cx="1828800" cy="274320"/>
          </a:xfrm>
          <a:prstGeom prst="rect">
            <a:avLst/>
          </a:prstGeom>
          <a:noFill/>
          <a:ln/>
        </p:spPr>
        <p:txBody>
          <a:bodyPr wrap="square" lIns="0" tIns="0" rIns="0" bIns="0" rtlCol="0" anchor="ctr"/>
          <a:lstStyle/>
          <a:p>
            <a:pPr marL="0" indent="0" algn="l">
              <a:buNone/>
            </a:pPr>
            <a:r>
              <a:rPr lang="en-US" sz="900" b="1" kern="0" spc="600" dirty="0">
                <a:solidFill>
                  <a:srgbClr val="4338CA"/>
                </a:solidFill>
                <a:latin typeface="Calibri" pitchFamily="34" charset="0"/>
                <a:ea typeface="Calibri" pitchFamily="34" charset="-122"/>
                <a:cs typeface="Calibri" pitchFamily="34" charset="-120"/>
              </a:rPr>
              <a:t>AI-R</a:t>
            </a:r>
            <a:endParaRPr lang="en-US" sz="900" dirty="0"/>
          </a:p>
        </p:txBody>
      </p:sp>
      <p:sp>
        <p:nvSpPr>
          <p:cNvPr id="27" name="ZoneTexte 26">
            <a:extLst>
              <a:ext uri="{FF2B5EF4-FFF2-40B4-BE49-F238E27FC236}">
                <a16:creationId xmlns:a16="http://schemas.microsoft.com/office/drawing/2014/main" id="{3B3E0187-06E3-509E-0758-5A60E7627DF8}"/>
              </a:ext>
            </a:extLst>
          </p:cNvPr>
          <p:cNvSpPr txBox="1"/>
          <p:nvPr/>
        </p:nvSpPr>
        <p:spPr>
          <a:xfrm>
            <a:off x="4309607" y="4353990"/>
            <a:ext cx="7370859" cy="1477328"/>
          </a:xfrm>
          <a:prstGeom prst="rect">
            <a:avLst/>
          </a:prstGeom>
          <a:noFill/>
        </p:spPr>
        <p:txBody>
          <a:bodyPr wrap="square" rtlCol="0">
            <a:spAutoFit/>
          </a:bodyPr>
          <a:lstStyle/>
          <a:p>
            <a:r>
              <a:rPr lang="fr-FR" dirty="0"/>
              <a:t>Il y’a une utilisation des drones, mais ce sont des outils qui demandent des pilotes formés et une liaison constante. </a:t>
            </a:r>
          </a:p>
          <a:p>
            <a:endParaRPr lang="fr-FR" dirty="0"/>
          </a:p>
          <a:p>
            <a:pPr marL="285750" indent="-285750">
              <a:buFont typeface="Arial" panose="020B0604020202020204" pitchFamily="34" charset="0"/>
              <a:buChar char="•"/>
            </a:pPr>
            <a:r>
              <a:rPr lang="fr-FR" dirty="0"/>
              <a:t>Hausse de 6% depuis 2020; 13.8% entre 2026-2035 </a:t>
            </a:r>
            <a:r>
              <a:rPr lang="fr-FR" u="sng" dirty="0">
                <a:hlinkClick r:id="rId3"/>
              </a:rPr>
              <a:t>marché des drones militaires Taille et partage 2026 - 2035</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457200" y="502920"/>
            <a:ext cx="73152" cy="640080"/>
          </a:xfrm>
          <a:prstGeom prst="rect">
            <a:avLst/>
          </a:prstGeom>
          <a:solidFill>
            <a:srgbClr val="06B6D4"/>
          </a:solidFill>
          <a:ln/>
        </p:spPr>
      </p:sp>
      <p:sp>
        <p:nvSpPr>
          <p:cNvPr id="3" name="Text 1"/>
          <p:cNvSpPr/>
          <p:nvPr/>
        </p:nvSpPr>
        <p:spPr>
          <a:xfrm>
            <a:off x="713232" y="457200"/>
            <a:ext cx="10789920" cy="731520"/>
          </a:xfrm>
          <a:prstGeom prst="rect">
            <a:avLst/>
          </a:prstGeom>
          <a:noFill/>
          <a:ln/>
        </p:spPr>
        <p:txBody>
          <a:bodyPr wrap="square" lIns="0" tIns="0" rIns="0" bIns="0" rtlCol="0" anchor="ctr"/>
          <a:lstStyle/>
          <a:p>
            <a:pPr marL="0" indent="0" algn="l">
              <a:buNone/>
            </a:pPr>
            <a:r>
              <a:rPr lang="en-US" sz="3200" b="1" dirty="0">
                <a:solidFill>
                  <a:srgbClr val="1E293B"/>
                </a:solidFill>
                <a:latin typeface="Calibri" pitchFamily="34" charset="0"/>
                <a:ea typeface="Calibri" pitchFamily="34" charset="-122"/>
                <a:cs typeface="Calibri" pitchFamily="34" charset="-120"/>
              </a:rPr>
              <a:t>Sommaire</a:t>
            </a:r>
            <a:endParaRPr lang="en-US" sz="3200" dirty="0"/>
          </a:p>
        </p:txBody>
      </p:sp>
      <p:sp>
        <p:nvSpPr>
          <p:cNvPr id="4" name="Text 2"/>
          <p:cNvSpPr/>
          <p:nvPr/>
        </p:nvSpPr>
        <p:spPr>
          <a:xfrm>
            <a:off x="713232" y="1143000"/>
            <a:ext cx="9144000" cy="365760"/>
          </a:xfrm>
          <a:prstGeom prst="rect">
            <a:avLst/>
          </a:prstGeom>
          <a:noFill/>
          <a:ln/>
        </p:spPr>
        <p:txBody>
          <a:bodyPr wrap="square" lIns="0" tIns="0" rIns="0" bIns="0" rtlCol="0" anchor="ctr"/>
          <a:lstStyle/>
          <a:p>
            <a:pPr marL="0" indent="0">
              <a:buNone/>
            </a:pPr>
            <a:r>
              <a:rPr lang="en-US" sz="1300" dirty="0">
                <a:solidFill>
                  <a:srgbClr val="475569"/>
                </a:solidFill>
                <a:latin typeface="Calibri" pitchFamily="34" charset="0"/>
                <a:ea typeface="Calibri" pitchFamily="34" charset="-122"/>
                <a:cs typeface="Calibri" pitchFamily="34" charset="-120"/>
              </a:rPr>
              <a:t>Plan de la présentation</a:t>
            </a:r>
            <a:endParaRPr lang="en-US" sz="1300" dirty="0"/>
          </a:p>
        </p:txBody>
      </p:sp>
      <p:sp>
        <p:nvSpPr>
          <p:cNvPr id="5" name="Shape 3"/>
          <p:cNvSpPr/>
          <p:nvPr/>
        </p:nvSpPr>
        <p:spPr>
          <a:xfrm>
            <a:off x="713232" y="1920240"/>
            <a:ext cx="457200" cy="457200"/>
          </a:xfrm>
          <a:prstGeom prst="rect">
            <a:avLst/>
          </a:prstGeom>
          <a:solidFill>
            <a:srgbClr val="E0E7FF"/>
          </a:solidFill>
          <a:ln/>
        </p:spPr>
      </p:sp>
      <p:pic>
        <p:nvPicPr>
          <p:cNvPr id="6" name="Image 0" descr="preencoded.png"/>
          <p:cNvPicPr>
            <a:picLocks noChangeAspect="1"/>
          </p:cNvPicPr>
          <p:nvPr/>
        </p:nvPicPr>
        <p:blipFill>
          <a:blip r:embed="rId3"/>
          <a:stretch>
            <a:fillRect/>
          </a:stretch>
        </p:blipFill>
        <p:spPr>
          <a:xfrm>
            <a:off x="813816" y="2020824"/>
            <a:ext cx="256032" cy="256032"/>
          </a:xfrm>
          <a:prstGeom prst="rect">
            <a:avLst/>
          </a:prstGeom>
        </p:spPr>
      </p:pic>
      <p:sp>
        <p:nvSpPr>
          <p:cNvPr id="7" name="Text 4"/>
          <p:cNvSpPr/>
          <p:nvPr/>
        </p:nvSpPr>
        <p:spPr>
          <a:xfrm>
            <a:off x="1307592" y="1938528"/>
            <a:ext cx="548640" cy="457200"/>
          </a:xfrm>
          <a:prstGeom prst="rect">
            <a:avLst/>
          </a:prstGeom>
          <a:noFill/>
          <a:ln/>
        </p:spPr>
        <p:txBody>
          <a:bodyPr wrap="square" lIns="0" tIns="0" rIns="0" bIns="0" rtlCol="0" anchor="ctr"/>
          <a:lstStyle/>
          <a:p>
            <a:pPr marL="0" indent="0">
              <a:buNone/>
            </a:pPr>
            <a:r>
              <a:rPr lang="en-US" sz="1100" b="1" kern="0" spc="400" dirty="0">
                <a:solidFill>
                  <a:srgbClr val="06B6D4"/>
                </a:solidFill>
                <a:latin typeface="Calibri" pitchFamily="34" charset="0"/>
                <a:ea typeface="Calibri" pitchFamily="34" charset="-122"/>
                <a:cs typeface="Calibri" pitchFamily="34" charset="-120"/>
              </a:rPr>
              <a:t>01</a:t>
            </a:r>
            <a:endParaRPr lang="en-US" sz="1100" dirty="0"/>
          </a:p>
        </p:txBody>
      </p:sp>
      <p:sp>
        <p:nvSpPr>
          <p:cNvPr id="8" name="Text 5"/>
          <p:cNvSpPr/>
          <p:nvPr/>
        </p:nvSpPr>
        <p:spPr>
          <a:xfrm>
            <a:off x="1856232" y="1938528"/>
            <a:ext cx="5029200" cy="45720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Introduction et Contexte</a:t>
            </a:r>
            <a:endParaRPr lang="en-US" sz="1400" dirty="0"/>
          </a:p>
        </p:txBody>
      </p:sp>
      <p:sp>
        <p:nvSpPr>
          <p:cNvPr id="9" name="Shape 6"/>
          <p:cNvSpPr/>
          <p:nvPr/>
        </p:nvSpPr>
        <p:spPr>
          <a:xfrm>
            <a:off x="713232" y="2560320"/>
            <a:ext cx="457200" cy="457200"/>
          </a:xfrm>
          <a:prstGeom prst="rect">
            <a:avLst/>
          </a:prstGeom>
          <a:solidFill>
            <a:srgbClr val="E0E7FF"/>
          </a:solidFill>
          <a:ln/>
        </p:spPr>
      </p:sp>
      <p:pic>
        <p:nvPicPr>
          <p:cNvPr id="10" name="Image 1" descr="preencoded.png"/>
          <p:cNvPicPr>
            <a:picLocks noChangeAspect="1"/>
          </p:cNvPicPr>
          <p:nvPr/>
        </p:nvPicPr>
        <p:blipFill>
          <a:blip r:embed="rId4"/>
          <a:stretch>
            <a:fillRect/>
          </a:stretch>
        </p:blipFill>
        <p:spPr>
          <a:xfrm>
            <a:off x="813816" y="2660904"/>
            <a:ext cx="256032" cy="256032"/>
          </a:xfrm>
          <a:prstGeom prst="rect">
            <a:avLst/>
          </a:prstGeom>
        </p:spPr>
      </p:pic>
      <p:sp>
        <p:nvSpPr>
          <p:cNvPr id="11" name="Text 7"/>
          <p:cNvSpPr/>
          <p:nvPr/>
        </p:nvSpPr>
        <p:spPr>
          <a:xfrm>
            <a:off x="1307592" y="2578608"/>
            <a:ext cx="548640" cy="457200"/>
          </a:xfrm>
          <a:prstGeom prst="rect">
            <a:avLst/>
          </a:prstGeom>
          <a:noFill/>
          <a:ln/>
        </p:spPr>
        <p:txBody>
          <a:bodyPr wrap="square" lIns="0" tIns="0" rIns="0" bIns="0" rtlCol="0" anchor="ctr"/>
          <a:lstStyle/>
          <a:p>
            <a:pPr marL="0" indent="0">
              <a:buNone/>
            </a:pPr>
            <a:r>
              <a:rPr lang="en-US" sz="1100" b="1" kern="0" spc="400" dirty="0">
                <a:solidFill>
                  <a:srgbClr val="06B6D4"/>
                </a:solidFill>
                <a:latin typeface="Calibri" pitchFamily="34" charset="0"/>
                <a:ea typeface="Calibri" pitchFamily="34" charset="-122"/>
                <a:cs typeface="Calibri" pitchFamily="34" charset="-120"/>
              </a:rPr>
              <a:t>02</a:t>
            </a:r>
            <a:endParaRPr lang="en-US" sz="1100" dirty="0"/>
          </a:p>
        </p:txBody>
      </p:sp>
      <p:sp>
        <p:nvSpPr>
          <p:cNvPr id="12" name="Text 8"/>
          <p:cNvSpPr/>
          <p:nvPr/>
        </p:nvSpPr>
        <p:spPr>
          <a:xfrm>
            <a:off x="1856232" y="2578608"/>
            <a:ext cx="5029200" cy="45720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Problème</a:t>
            </a:r>
            <a:endParaRPr lang="en-US" sz="1400" dirty="0"/>
          </a:p>
        </p:txBody>
      </p:sp>
      <p:sp>
        <p:nvSpPr>
          <p:cNvPr id="13" name="Shape 9"/>
          <p:cNvSpPr/>
          <p:nvPr/>
        </p:nvSpPr>
        <p:spPr>
          <a:xfrm>
            <a:off x="713232" y="3200400"/>
            <a:ext cx="457200" cy="457200"/>
          </a:xfrm>
          <a:prstGeom prst="rect">
            <a:avLst/>
          </a:prstGeom>
          <a:solidFill>
            <a:srgbClr val="E0E7FF"/>
          </a:solidFill>
          <a:ln/>
        </p:spPr>
      </p:sp>
      <p:pic>
        <p:nvPicPr>
          <p:cNvPr id="14" name="Image 2" descr="preencoded.png"/>
          <p:cNvPicPr>
            <a:picLocks noChangeAspect="1"/>
          </p:cNvPicPr>
          <p:nvPr/>
        </p:nvPicPr>
        <p:blipFill>
          <a:blip r:embed="rId5"/>
          <a:stretch>
            <a:fillRect/>
          </a:stretch>
        </p:blipFill>
        <p:spPr>
          <a:xfrm>
            <a:off x="813816" y="3300984"/>
            <a:ext cx="256032" cy="256032"/>
          </a:xfrm>
          <a:prstGeom prst="rect">
            <a:avLst/>
          </a:prstGeom>
        </p:spPr>
      </p:pic>
      <p:sp>
        <p:nvSpPr>
          <p:cNvPr id="15" name="Text 10"/>
          <p:cNvSpPr/>
          <p:nvPr/>
        </p:nvSpPr>
        <p:spPr>
          <a:xfrm>
            <a:off x="1307592" y="3218688"/>
            <a:ext cx="548640" cy="457200"/>
          </a:xfrm>
          <a:prstGeom prst="rect">
            <a:avLst/>
          </a:prstGeom>
          <a:noFill/>
          <a:ln/>
        </p:spPr>
        <p:txBody>
          <a:bodyPr wrap="square" lIns="0" tIns="0" rIns="0" bIns="0" rtlCol="0" anchor="ctr"/>
          <a:lstStyle/>
          <a:p>
            <a:pPr marL="0" indent="0">
              <a:buNone/>
            </a:pPr>
            <a:r>
              <a:rPr lang="en-US" sz="1100" b="1" kern="0" spc="400" dirty="0">
                <a:solidFill>
                  <a:srgbClr val="06B6D4"/>
                </a:solidFill>
                <a:latin typeface="Calibri" pitchFamily="34" charset="0"/>
                <a:ea typeface="Calibri" pitchFamily="34" charset="-122"/>
                <a:cs typeface="Calibri" pitchFamily="34" charset="-120"/>
              </a:rPr>
              <a:t>03</a:t>
            </a:r>
            <a:endParaRPr lang="en-US" sz="1100" dirty="0"/>
          </a:p>
        </p:txBody>
      </p:sp>
      <p:sp>
        <p:nvSpPr>
          <p:cNvPr id="16" name="Text 11"/>
          <p:cNvSpPr/>
          <p:nvPr/>
        </p:nvSpPr>
        <p:spPr>
          <a:xfrm>
            <a:off x="1856232" y="3218688"/>
            <a:ext cx="5029200" cy="45720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Cartographie des solutions existantes</a:t>
            </a:r>
            <a:endParaRPr lang="en-US" sz="1400" dirty="0"/>
          </a:p>
        </p:txBody>
      </p:sp>
      <p:sp>
        <p:nvSpPr>
          <p:cNvPr id="17" name="Shape 12"/>
          <p:cNvSpPr/>
          <p:nvPr/>
        </p:nvSpPr>
        <p:spPr>
          <a:xfrm>
            <a:off x="713232" y="3840480"/>
            <a:ext cx="457200" cy="457200"/>
          </a:xfrm>
          <a:prstGeom prst="rect">
            <a:avLst/>
          </a:prstGeom>
          <a:solidFill>
            <a:srgbClr val="E0E7FF"/>
          </a:solidFill>
          <a:ln/>
        </p:spPr>
      </p:sp>
      <p:pic>
        <p:nvPicPr>
          <p:cNvPr id="18" name="Image 3" descr="preencoded.png"/>
          <p:cNvPicPr>
            <a:picLocks noChangeAspect="1"/>
          </p:cNvPicPr>
          <p:nvPr/>
        </p:nvPicPr>
        <p:blipFill>
          <a:blip r:embed="rId6"/>
          <a:stretch>
            <a:fillRect/>
          </a:stretch>
        </p:blipFill>
        <p:spPr>
          <a:xfrm>
            <a:off x="813816" y="3941064"/>
            <a:ext cx="256032" cy="256032"/>
          </a:xfrm>
          <a:prstGeom prst="rect">
            <a:avLst/>
          </a:prstGeom>
        </p:spPr>
      </p:pic>
      <p:sp>
        <p:nvSpPr>
          <p:cNvPr id="19" name="Text 13"/>
          <p:cNvSpPr/>
          <p:nvPr/>
        </p:nvSpPr>
        <p:spPr>
          <a:xfrm>
            <a:off x="1307592" y="3858768"/>
            <a:ext cx="548640" cy="457200"/>
          </a:xfrm>
          <a:prstGeom prst="rect">
            <a:avLst/>
          </a:prstGeom>
          <a:noFill/>
          <a:ln/>
        </p:spPr>
        <p:txBody>
          <a:bodyPr wrap="square" lIns="0" tIns="0" rIns="0" bIns="0" rtlCol="0" anchor="ctr"/>
          <a:lstStyle/>
          <a:p>
            <a:pPr marL="0" indent="0">
              <a:buNone/>
            </a:pPr>
            <a:r>
              <a:rPr lang="en-US" sz="1100" b="1" kern="0" spc="400" dirty="0">
                <a:solidFill>
                  <a:srgbClr val="06B6D4"/>
                </a:solidFill>
                <a:latin typeface="Calibri" pitchFamily="34" charset="0"/>
                <a:ea typeface="Calibri" pitchFamily="34" charset="-122"/>
                <a:cs typeface="Calibri" pitchFamily="34" charset="-120"/>
              </a:rPr>
              <a:t>04</a:t>
            </a:r>
            <a:endParaRPr lang="en-US" sz="1100" dirty="0"/>
          </a:p>
        </p:txBody>
      </p:sp>
      <p:sp>
        <p:nvSpPr>
          <p:cNvPr id="20" name="Text 14"/>
          <p:cNvSpPr/>
          <p:nvPr/>
        </p:nvSpPr>
        <p:spPr>
          <a:xfrm>
            <a:off x="1856232" y="3858768"/>
            <a:ext cx="5029200" cy="45720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Notre Solution</a:t>
            </a:r>
            <a:endParaRPr lang="en-US" sz="1400" dirty="0"/>
          </a:p>
        </p:txBody>
      </p:sp>
      <p:sp>
        <p:nvSpPr>
          <p:cNvPr id="21" name="Shape 15"/>
          <p:cNvSpPr/>
          <p:nvPr/>
        </p:nvSpPr>
        <p:spPr>
          <a:xfrm>
            <a:off x="6400800" y="1920240"/>
            <a:ext cx="457200" cy="457200"/>
          </a:xfrm>
          <a:prstGeom prst="rect">
            <a:avLst/>
          </a:prstGeom>
          <a:solidFill>
            <a:srgbClr val="E0E7FF"/>
          </a:solidFill>
          <a:ln/>
        </p:spPr>
      </p:sp>
      <p:pic>
        <p:nvPicPr>
          <p:cNvPr id="22" name="Image 4" descr="preencoded.png"/>
          <p:cNvPicPr>
            <a:picLocks noChangeAspect="1"/>
          </p:cNvPicPr>
          <p:nvPr/>
        </p:nvPicPr>
        <p:blipFill>
          <a:blip r:embed="rId7"/>
          <a:stretch>
            <a:fillRect/>
          </a:stretch>
        </p:blipFill>
        <p:spPr>
          <a:xfrm>
            <a:off x="6501384" y="2020824"/>
            <a:ext cx="256032" cy="256032"/>
          </a:xfrm>
          <a:prstGeom prst="rect">
            <a:avLst/>
          </a:prstGeom>
        </p:spPr>
      </p:pic>
      <p:sp>
        <p:nvSpPr>
          <p:cNvPr id="23" name="Text 16"/>
          <p:cNvSpPr/>
          <p:nvPr/>
        </p:nvSpPr>
        <p:spPr>
          <a:xfrm>
            <a:off x="6995160" y="1938528"/>
            <a:ext cx="548640" cy="457200"/>
          </a:xfrm>
          <a:prstGeom prst="rect">
            <a:avLst/>
          </a:prstGeom>
          <a:noFill/>
          <a:ln/>
        </p:spPr>
        <p:txBody>
          <a:bodyPr wrap="square" lIns="0" tIns="0" rIns="0" bIns="0" rtlCol="0" anchor="ctr"/>
          <a:lstStyle/>
          <a:p>
            <a:pPr marL="0" indent="0">
              <a:buNone/>
            </a:pPr>
            <a:r>
              <a:rPr lang="en-US" sz="1100" b="1" kern="0" spc="400" dirty="0">
                <a:solidFill>
                  <a:srgbClr val="06B6D4"/>
                </a:solidFill>
                <a:latin typeface="Calibri" pitchFamily="34" charset="0"/>
                <a:ea typeface="Calibri" pitchFamily="34" charset="-122"/>
                <a:cs typeface="Calibri" pitchFamily="34" charset="-120"/>
              </a:rPr>
              <a:t>05</a:t>
            </a:r>
            <a:endParaRPr lang="en-US" sz="1100" dirty="0"/>
          </a:p>
        </p:txBody>
      </p:sp>
      <p:sp>
        <p:nvSpPr>
          <p:cNvPr id="24" name="Text 17"/>
          <p:cNvSpPr/>
          <p:nvPr/>
        </p:nvSpPr>
        <p:spPr>
          <a:xfrm>
            <a:off x="7543800" y="1938528"/>
            <a:ext cx="5029200" cy="45720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Démo</a:t>
            </a:r>
            <a:endParaRPr lang="en-US" sz="1400" dirty="0"/>
          </a:p>
        </p:txBody>
      </p:sp>
      <p:sp>
        <p:nvSpPr>
          <p:cNvPr id="25" name="Shape 18"/>
          <p:cNvSpPr/>
          <p:nvPr/>
        </p:nvSpPr>
        <p:spPr>
          <a:xfrm>
            <a:off x="6400800" y="2560320"/>
            <a:ext cx="457200" cy="457200"/>
          </a:xfrm>
          <a:prstGeom prst="rect">
            <a:avLst/>
          </a:prstGeom>
          <a:solidFill>
            <a:srgbClr val="E0E7FF"/>
          </a:solidFill>
          <a:ln/>
        </p:spPr>
      </p:sp>
      <p:pic>
        <p:nvPicPr>
          <p:cNvPr id="26" name="Image 5" descr="preencoded.png"/>
          <p:cNvPicPr>
            <a:picLocks noChangeAspect="1"/>
          </p:cNvPicPr>
          <p:nvPr/>
        </p:nvPicPr>
        <p:blipFill>
          <a:blip r:embed="rId8"/>
          <a:stretch>
            <a:fillRect/>
          </a:stretch>
        </p:blipFill>
        <p:spPr>
          <a:xfrm>
            <a:off x="6501384" y="2660904"/>
            <a:ext cx="256032" cy="256032"/>
          </a:xfrm>
          <a:prstGeom prst="rect">
            <a:avLst/>
          </a:prstGeom>
        </p:spPr>
      </p:pic>
      <p:sp>
        <p:nvSpPr>
          <p:cNvPr id="27" name="Text 19"/>
          <p:cNvSpPr/>
          <p:nvPr/>
        </p:nvSpPr>
        <p:spPr>
          <a:xfrm>
            <a:off x="6995160" y="2578608"/>
            <a:ext cx="548640" cy="457200"/>
          </a:xfrm>
          <a:prstGeom prst="rect">
            <a:avLst/>
          </a:prstGeom>
          <a:noFill/>
          <a:ln/>
        </p:spPr>
        <p:txBody>
          <a:bodyPr wrap="square" lIns="0" tIns="0" rIns="0" bIns="0" rtlCol="0" anchor="ctr"/>
          <a:lstStyle/>
          <a:p>
            <a:pPr marL="0" indent="0">
              <a:buNone/>
            </a:pPr>
            <a:r>
              <a:rPr lang="en-US" sz="1100" b="1" kern="0" spc="400" dirty="0">
                <a:solidFill>
                  <a:srgbClr val="06B6D4"/>
                </a:solidFill>
                <a:latin typeface="Calibri" pitchFamily="34" charset="0"/>
                <a:ea typeface="Calibri" pitchFamily="34" charset="-122"/>
                <a:cs typeface="Calibri" pitchFamily="34" charset="-120"/>
              </a:rPr>
              <a:t>06</a:t>
            </a:r>
            <a:endParaRPr lang="en-US" sz="1100" dirty="0"/>
          </a:p>
        </p:txBody>
      </p:sp>
      <p:sp>
        <p:nvSpPr>
          <p:cNvPr id="28" name="Text 20"/>
          <p:cNvSpPr/>
          <p:nvPr/>
        </p:nvSpPr>
        <p:spPr>
          <a:xfrm>
            <a:off x="7543800" y="2578608"/>
            <a:ext cx="5029200" cy="45720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Future de AI-R</a:t>
            </a:r>
            <a:endParaRPr lang="en-US" sz="1400" dirty="0"/>
          </a:p>
        </p:txBody>
      </p:sp>
      <p:sp>
        <p:nvSpPr>
          <p:cNvPr id="29" name="Shape 21"/>
          <p:cNvSpPr/>
          <p:nvPr/>
        </p:nvSpPr>
        <p:spPr>
          <a:xfrm>
            <a:off x="6400800" y="3200400"/>
            <a:ext cx="457200" cy="457200"/>
          </a:xfrm>
          <a:prstGeom prst="rect">
            <a:avLst/>
          </a:prstGeom>
          <a:solidFill>
            <a:srgbClr val="E0E7FF"/>
          </a:solidFill>
          <a:ln/>
        </p:spPr>
      </p:sp>
      <p:pic>
        <p:nvPicPr>
          <p:cNvPr id="30" name="Image 6" descr="preencoded.png"/>
          <p:cNvPicPr>
            <a:picLocks noChangeAspect="1"/>
          </p:cNvPicPr>
          <p:nvPr/>
        </p:nvPicPr>
        <p:blipFill>
          <a:blip r:embed="rId9"/>
          <a:stretch>
            <a:fillRect/>
          </a:stretch>
        </p:blipFill>
        <p:spPr>
          <a:xfrm>
            <a:off x="6501384" y="3300984"/>
            <a:ext cx="256032" cy="256032"/>
          </a:xfrm>
          <a:prstGeom prst="rect">
            <a:avLst/>
          </a:prstGeom>
        </p:spPr>
      </p:pic>
      <p:sp>
        <p:nvSpPr>
          <p:cNvPr id="31" name="Text 22"/>
          <p:cNvSpPr/>
          <p:nvPr/>
        </p:nvSpPr>
        <p:spPr>
          <a:xfrm>
            <a:off x="6995160" y="3218688"/>
            <a:ext cx="548640" cy="457200"/>
          </a:xfrm>
          <a:prstGeom prst="rect">
            <a:avLst/>
          </a:prstGeom>
          <a:noFill/>
          <a:ln/>
        </p:spPr>
        <p:txBody>
          <a:bodyPr wrap="square" lIns="0" tIns="0" rIns="0" bIns="0" rtlCol="0" anchor="ctr"/>
          <a:lstStyle/>
          <a:p>
            <a:pPr marL="0" indent="0">
              <a:buNone/>
            </a:pPr>
            <a:r>
              <a:rPr lang="en-US" sz="1100" b="1" kern="0" spc="400" dirty="0">
                <a:solidFill>
                  <a:srgbClr val="06B6D4"/>
                </a:solidFill>
                <a:latin typeface="Calibri" pitchFamily="34" charset="0"/>
                <a:ea typeface="Calibri" pitchFamily="34" charset="-122"/>
                <a:cs typeface="Calibri" pitchFamily="34" charset="-120"/>
              </a:rPr>
              <a:t>07</a:t>
            </a:r>
            <a:endParaRPr lang="en-US" sz="1100" dirty="0"/>
          </a:p>
        </p:txBody>
      </p:sp>
      <p:sp>
        <p:nvSpPr>
          <p:cNvPr id="32" name="Text 23"/>
          <p:cNvSpPr/>
          <p:nvPr/>
        </p:nvSpPr>
        <p:spPr>
          <a:xfrm>
            <a:off x="7543800" y="3218688"/>
            <a:ext cx="5029200" cy="45720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Conclusion</a:t>
            </a:r>
            <a:endParaRPr lang="en-US" sz="1400" dirty="0"/>
          </a:p>
        </p:txBody>
      </p:sp>
      <p:sp>
        <p:nvSpPr>
          <p:cNvPr id="33" name="Text 24"/>
          <p:cNvSpPr/>
          <p:nvPr/>
        </p:nvSpPr>
        <p:spPr>
          <a:xfrm>
            <a:off x="10881360" y="6473952"/>
            <a:ext cx="914400" cy="274320"/>
          </a:xfrm>
          <a:prstGeom prst="rect">
            <a:avLst/>
          </a:prstGeom>
          <a:noFill/>
          <a:ln/>
        </p:spPr>
        <p:txBody>
          <a:bodyPr wrap="square" lIns="0" tIns="0" rIns="0" bIns="0" rtlCol="0" anchor="ctr"/>
          <a:lstStyle/>
          <a:p>
            <a:pPr marL="0" indent="0" algn="r">
              <a:buNone/>
            </a:pPr>
            <a:r>
              <a:rPr lang="en-US" sz="900" kern="0" spc="400" dirty="0">
                <a:solidFill>
                  <a:srgbClr val="94A3B8"/>
                </a:solidFill>
                <a:latin typeface="Calibri" pitchFamily="34" charset="0"/>
                <a:ea typeface="Calibri" pitchFamily="34" charset="-122"/>
                <a:cs typeface="Calibri" pitchFamily="34" charset="-120"/>
              </a:rPr>
              <a:t>01 / 09</a:t>
            </a:r>
            <a:endParaRPr lang="en-US" sz="900" dirty="0"/>
          </a:p>
        </p:txBody>
      </p:sp>
      <p:sp>
        <p:nvSpPr>
          <p:cNvPr id="34" name="Text 25"/>
          <p:cNvSpPr/>
          <p:nvPr/>
        </p:nvSpPr>
        <p:spPr>
          <a:xfrm>
            <a:off x="457200" y="6473952"/>
            <a:ext cx="1828800" cy="274320"/>
          </a:xfrm>
          <a:prstGeom prst="rect">
            <a:avLst/>
          </a:prstGeom>
          <a:noFill/>
          <a:ln/>
        </p:spPr>
        <p:txBody>
          <a:bodyPr wrap="square" lIns="0" tIns="0" rIns="0" bIns="0" rtlCol="0" anchor="ctr"/>
          <a:lstStyle/>
          <a:p>
            <a:pPr marL="0" indent="0" algn="l">
              <a:buNone/>
            </a:pPr>
            <a:r>
              <a:rPr lang="en-US" sz="900" b="1" kern="0" spc="600" dirty="0">
                <a:solidFill>
                  <a:srgbClr val="4338CA"/>
                </a:solidFill>
                <a:latin typeface="Calibri" pitchFamily="34" charset="0"/>
                <a:ea typeface="Calibri" pitchFamily="34" charset="-122"/>
                <a:cs typeface="Calibri" pitchFamily="34" charset="-120"/>
              </a:rPr>
              <a:t>AI-R</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457200" y="502920"/>
            <a:ext cx="73152" cy="640080"/>
          </a:xfrm>
          <a:prstGeom prst="rect">
            <a:avLst/>
          </a:prstGeom>
          <a:solidFill>
            <a:srgbClr val="06B6D4"/>
          </a:solidFill>
          <a:ln/>
        </p:spPr>
      </p:sp>
      <p:sp>
        <p:nvSpPr>
          <p:cNvPr id="3" name="Text 1"/>
          <p:cNvSpPr/>
          <p:nvPr/>
        </p:nvSpPr>
        <p:spPr>
          <a:xfrm>
            <a:off x="713232" y="457200"/>
            <a:ext cx="10789920" cy="731520"/>
          </a:xfrm>
          <a:prstGeom prst="rect">
            <a:avLst/>
          </a:prstGeom>
          <a:noFill/>
          <a:ln/>
        </p:spPr>
        <p:txBody>
          <a:bodyPr wrap="square" lIns="0" tIns="0" rIns="0" bIns="0" rtlCol="0" anchor="ctr"/>
          <a:lstStyle/>
          <a:p>
            <a:pPr marL="0" indent="0" algn="l">
              <a:buNone/>
            </a:pPr>
            <a:r>
              <a:rPr lang="en-US" sz="3200" b="1" dirty="0">
                <a:solidFill>
                  <a:srgbClr val="1E293B"/>
                </a:solidFill>
                <a:latin typeface="Calibri" pitchFamily="34" charset="0"/>
                <a:ea typeface="Calibri" pitchFamily="34" charset="-122"/>
                <a:cs typeface="Calibri" pitchFamily="34" charset="-120"/>
              </a:rPr>
              <a:t>Problème</a:t>
            </a:r>
            <a:endParaRPr lang="en-US" sz="3200" dirty="0"/>
          </a:p>
        </p:txBody>
      </p:sp>
      <p:sp>
        <p:nvSpPr>
          <p:cNvPr id="4" name="Text 2"/>
          <p:cNvSpPr/>
          <p:nvPr/>
        </p:nvSpPr>
        <p:spPr>
          <a:xfrm>
            <a:off x="713232" y="1143000"/>
            <a:ext cx="9144000" cy="365760"/>
          </a:xfrm>
          <a:prstGeom prst="rect">
            <a:avLst/>
          </a:prstGeom>
          <a:noFill/>
          <a:ln/>
        </p:spPr>
        <p:txBody>
          <a:bodyPr wrap="square" lIns="0" tIns="0" rIns="0" bIns="0" rtlCol="0" anchor="ctr"/>
          <a:lstStyle/>
          <a:p>
            <a:pPr marL="0" indent="0">
              <a:buNone/>
            </a:pPr>
            <a:r>
              <a:rPr lang="en-US" sz="1300" kern="0" spc="400" dirty="0">
                <a:solidFill>
                  <a:srgbClr val="475569"/>
                </a:solidFill>
                <a:latin typeface="Calibri" pitchFamily="34" charset="0"/>
                <a:ea typeface="Calibri" pitchFamily="34" charset="-122"/>
                <a:cs typeface="Calibri" pitchFamily="34" charset="-120"/>
              </a:rPr>
              <a:t>02 · Ce qui rend les drones inaccessibles aujourd'hui</a:t>
            </a:r>
            <a:endParaRPr lang="en-US" sz="1300" dirty="0"/>
          </a:p>
        </p:txBody>
      </p:sp>
      <p:sp>
        <p:nvSpPr>
          <p:cNvPr id="5" name="Shape 3"/>
          <p:cNvSpPr/>
          <p:nvPr/>
        </p:nvSpPr>
        <p:spPr>
          <a:xfrm>
            <a:off x="365760" y="1828800"/>
            <a:ext cx="3657600" cy="4206240"/>
          </a:xfrm>
          <a:prstGeom prst="rect">
            <a:avLst/>
          </a:prstGeom>
          <a:solidFill>
            <a:srgbClr val="FFFFFF"/>
          </a:solidFill>
          <a:ln w="12700">
            <a:solidFill>
              <a:srgbClr val="E2E8F0"/>
            </a:solidFill>
            <a:prstDash val="solid"/>
          </a:ln>
          <a:effectLst>
            <a:outerShdw blurRad="152400" dist="50800" dir="5400000" algn="bl" rotWithShape="0">
              <a:srgbClr val="0F172A">
                <a:alpha val="6000"/>
              </a:srgbClr>
            </a:outerShdw>
          </a:effectLst>
        </p:spPr>
      </p:sp>
      <p:sp>
        <p:nvSpPr>
          <p:cNvPr id="6" name="Shape 4"/>
          <p:cNvSpPr/>
          <p:nvPr/>
        </p:nvSpPr>
        <p:spPr>
          <a:xfrm>
            <a:off x="365760" y="1828800"/>
            <a:ext cx="3657600" cy="91440"/>
          </a:xfrm>
          <a:prstGeom prst="rect">
            <a:avLst/>
          </a:prstGeom>
          <a:solidFill>
            <a:srgbClr val="EF4444"/>
          </a:solidFill>
          <a:ln/>
        </p:spPr>
      </p:sp>
      <p:sp>
        <p:nvSpPr>
          <p:cNvPr id="7" name="Shape 5"/>
          <p:cNvSpPr/>
          <p:nvPr/>
        </p:nvSpPr>
        <p:spPr>
          <a:xfrm>
            <a:off x="731520" y="2286000"/>
            <a:ext cx="914400" cy="914400"/>
          </a:xfrm>
          <a:prstGeom prst="rect">
            <a:avLst/>
          </a:prstGeom>
          <a:solidFill>
            <a:srgbClr val="E0E7FF"/>
          </a:solidFill>
          <a:ln/>
        </p:spPr>
      </p:sp>
      <p:pic>
        <p:nvPicPr>
          <p:cNvPr id="8" name="Image 0" descr="preencoded.png"/>
          <p:cNvPicPr>
            <a:picLocks noChangeAspect="1"/>
          </p:cNvPicPr>
          <p:nvPr/>
        </p:nvPicPr>
        <p:blipFill>
          <a:blip r:embed="rId3"/>
          <a:stretch>
            <a:fillRect/>
          </a:stretch>
        </p:blipFill>
        <p:spPr>
          <a:xfrm>
            <a:off x="932688" y="2487168"/>
            <a:ext cx="512064" cy="512064"/>
          </a:xfrm>
          <a:prstGeom prst="rect">
            <a:avLst/>
          </a:prstGeom>
        </p:spPr>
      </p:pic>
      <p:sp>
        <p:nvSpPr>
          <p:cNvPr id="9" name="Text 6"/>
          <p:cNvSpPr/>
          <p:nvPr/>
        </p:nvSpPr>
        <p:spPr>
          <a:xfrm>
            <a:off x="731520" y="3383280"/>
            <a:ext cx="2926080" cy="274320"/>
          </a:xfrm>
          <a:prstGeom prst="rect">
            <a:avLst/>
          </a:prstGeom>
          <a:noFill/>
          <a:ln/>
        </p:spPr>
        <p:txBody>
          <a:bodyPr wrap="square" lIns="0" tIns="0" rIns="0" bIns="0" rtlCol="0" anchor="ctr"/>
          <a:lstStyle/>
          <a:p>
            <a:pPr marL="0" indent="0">
              <a:buNone/>
            </a:pPr>
            <a:r>
              <a:rPr lang="en-US" sz="1000" b="1" kern="0" spc="600" dirty="0">
                <a:solidFill>
                  <a:srgbClr val="EF4444"/>
                </a:solidFill>
                <a:latin typeface="Calibri" pitchFamily="34" charset="0"/>
                <a:ea typeface="Calibri" pitchFamily="34" charset="-122"/>
                <a:cs typeface="Calibri" pitchFamily="34" charset="-120"/>
              </a:rPr>
              <a:t>PROBLÈME 01</a:t>
            </a:r>
            <a:endParaRPr lang="en-US" sz="1000" dirty="0"/>
          </a:p>
        </p:txBody>
      </p:sp>
      <p:sp>
        <p:nvSpPr>
          <p:cNvPr id="10" name="Text 7"/>
          <p:cNvSpPr/>
          <p:nvPr/>
        </p:nvSpPr>
        <p:spPr>
          <a:xfrm>
            <a:off x="731520" y="3703320"/>
            <a:ext cx="2926080" cy="822960"/>
          </a:xfrm>
          <a:prstGeom prst="rect">
            <a:avLst/>
          </a:prstGeom>
          <a:noFill/>
          <a:ln/>
        </p:spPr>
        <p:txBody>
          <a:bodyPr wrap="square" lIns="0" tIns="0" rIns="0" bIns="0" rtlCol="0" anchor="ctr"/>
          <a:lstStyle/>
          <a:p>
            <a:pPr marL="0" indent="0">
              <a:buNone/>
            </a:pPr>
            <a:r>
              <a:rPr lang="en-US" sz="2000" b="1" dirty="0">
                <a:solidFill>
                  <a:srgbClr val="1E293B"/>
                </a:solidFill>
                <a:latin typeface="Calibri" pitchFamily="34" charset="0"/>
                <a:ea typeface="Calibri" pitchFamily="34" charset="-122"/>
                <a:cs typeface="Calibri" pitchFamily="34" charset="-120"/>
              </a:rPr>
              <a:t>Pilotage manuel exigeant</a:t>
            </a:r>
            <a:endParaRPr lang="en-US" sz="2000" dirty="0"/>
          </a:p>
        </p:txBody>
      </p:sp>
      <p:sp>
        <p:nvSpPr>
          <p:cNvPr id="11" name="Text 8"/>
          <p:cNvSpPr/>
          <p:nvPr/>
        </p:nvSpPr>
        <p:spPr>
          <a:xfrm>
            <a:off x="731520" y="4526280"/>
            <a:ext cx="2926080" cy="1371600"/>
          </a:xfrm>
          <a:prstGeom prst="rect">
            <a:avLst/>
          </a:prstGeom>
          <a:noFill/>
          <a:ln/>
        </p:spPr>
        <p:txBody>
          <a:bodyPr wrap="square" lIns="0" tIns="0" rIns="0" bIns="0" rtlCol="0" anchor="ctr"/>
          <a:lstStyle/>
          <a:p>
            <a:pPr marL="0" indent="0">
              <a:buNone/>
            </a:pPr>
            <a:r>
              <a:rPr lang="en-US" sz="1300" dirty="0">
                <a:solidFill>
                  <a:srgbClr val="475569"/>
                </a:solidFill>
                <a:latin typeface="Calibri" pitchFamily="34" charset="0"/>
                <a:ea typeface="Calibri" pitchFamily="34" charset="-122"/>
                <a:cs typeface="Calibri" pitchFamily="34" charset="-120"/>
              </a:rPr>
              <a:t>Maîtriser deux joysticks, gérer l'altitude, le yaw, la dérive du vent. Des semaines d'entraînement avant un vol contrôlé.</a:t>
            </a:r>
            <a:endParaRPr lang="en-US" sz="1300" dirty="0"/>
          </a:p>
        </p:txBody>
      </p:sp>
      <p:sp>
        <p:nvSpPr>
          <p:cNvPr id="12" name="Shape 9"/>
          <p:cNvSpPr/>
          <p:nvPr/>
        </p:nvSpPr>
        <p:spPr>
          <a:xfrm>
            <a:off x="4251960" y="1828800"/>
            <a:ext cx="3657600" cy="4206240"/>
          </a:xfrm>
          <a:prstGeom prst="rect">
            <a:avLst/>
          </a:prstGeom>
          <a:solidFill>
            <a:srgbClr val="FFFFFF"/>
          </a:solidFill>
          <a:ln w="12700">
            <a:solidFill>
              <a:srgbClr val="E2E8F0"/>
            </a:solidFill>
            <a:prstDash val="solid"/>
          </a:ln>
          <a:effectLst>
            <a:outerShdw blurRad="152400" dist="50800" dir="5400000" algn="bl" rotWithShape="0">
              <a:srgbClr val="0F172A">
                <a:alpha val="6000"/>
              </a:srgbClr>
            </a:outerShdw>
          </a:effectLst>
        </p:spPr>
        <p:txBody>
          <a:bodyPr/>
          <a:lstStyle/>
          <a:p>
            <a:endParaRPr lang="en-US" dirty="0"/>
          </a:p>
        </p:txBody>
      </p:sp>
      <p:sp>
        <p:nvSpPr>
          <p:cNvPr id="13" name="Shape 10"/>
          <p:cNvSpPr/>
          <p:nvPr/>
        </p:nvSpPr>
        <p:spPr>
          <a:xfrm>
            <a:off x="4251960" y="1828800"/>
            <a:ext cx="3657600" cy="91440"/>
          </a:xfrm>
          <a:prstGeom prst="rect">
            <a:avLst/>
          </a:prstGeom>
          <a:solidFill>
            <a:srgbClr val="EF4444"/>
          </a:solidFill>
          <a:ln/>
        </p:spPr>
      </p:sp>
      <p:sp>
        <p:nvSpPr>
          <p:cNvPr id="14" name="Shape 11"/>
          <p:cNvSpPr/>
          <p:nvPr/>
        </p:nvSpPr>
        <p:spPr>
          <a:xfrm>
            <a:off x="4617720" y="2286000"/>
            <a:ext cx="914400" cy="914400"/>
          </a:xfrm>
          <a:prstGeom prst="rect">
            <a:avLst/>
          </a:prstGeom>
          <a:solidFill>
            <a:srgbClr val="E0E7FF"/>
          </a:solidFill>
          <a:ln/>
        </p:spPr>
      </p:sp>
      <p:pic>
        <p:nvPicPr>
          <p:cNvPr id="15" name="Image 1" descr="preencoded.png"/>
          <p:cNvPicPr>
            <a:picLocks noChangeAspect="1"/>
          </p:cNvPicPr>
          <p:nvPr/>
        </p:nvPicPr>
        <p:blipFill>
          <a:blip r:embed="rId4"/>
          <a:stretch>
            <a:fillRect/>
          </a:stretch>
        </p:blipFill>
        <p:spPr>
          <a:xfrm>
            <a:off x="4818888" y="2487168"/>
            <a:ext cx="512064" cy="512064"/>
          </a:xfrm>
          <a:prstGeom prst="rect">
            <a:avLst/>
          </a:prstGeom>
        </p:spPr>
      </p:pic>
      <p:sp>
        <p:nvSpPr>
          <p:cNvPr id="16" name="Text 12"/>
          <p:cNvSpPr/>
          <p:nvPr/>
        </p:nvSpPr>
        <p:spPr>
          <a:xfrm>
            <a:off x="4617720" y="3383280"/>
            <a:ext cx="2926080" cy="274320"/>
          </a:xfrm>
          <a:prstGeom prst="rect">
            <a:avLst/>
          </a:prstGeom>
          <a:noFill/>
          <a:ln/>
        </p:spPr>
        <p:txBody>
          <a:bodyPr wrap="square" lIns="0" tIns="0" rIns="0" bIns="0" rtlCol="0" anchor="ctr"/>
          <a:lstStyle/>
          <a:p>
            <a:pPr marL="0" indent="0">
              <a:buNone/>
            </a:pPr>
            <a:r>
              <a:rPr lang="en-US" sz="1000" b="1" kern="0" spc="600" dirty="0">
                <a:solidFill>
                  <a:srgbClr val="EF4444"/>
                </a:solidFill>
                <a:latin typeface="Calibri" pitchFamily="34" charset="0"/>
                <a:ea typeface="Calibri" pitchFamily="34" charset="-122"/>
                <a:cs typeface="Calibri" pitchFamily="34" charset="-120"/>
              </a:rPr>
              <a:t>PROBLÈME 02</a:t>
            </a:r>
            <a:endParaRPr lang="en-US" sz="1000" dirty="0"/>
          </a:p>
        </p:txBody>
      </p:sp>
      <p:sp>
        <p:nvSpPr>
          <p:cNvPr id="17" name="Text 13"/>
          <p:cNvSpPr/>
          <p:nvPr/>
        </p:nvSpPr>
        <p:spPr>
          <a:xfrm>
            <a:off x="4617720" y="3703320"/>
            <a:ext cx="2926080" cy="822960"/>
          </a:xfrm>
          <a:prstGeom prst="rect">
            <a:avLst/>
          </a:prstGeom>
          <a:noFill/>
          <a:ln/>
        </p:spPr>
        <p:txBody>
          <a:bodyPr wrap="square" lIns="0" tIns="0" rIns="0" bIns="0" rtlCol="0" anchor="ctr"/>
          <a:lstStyle/>
          <a:p>
            <a:pPr marL="0" indent="0">
              <a:buNone/>
            </a:pPr>
            <a:r>
              <a:rPr lang="en-US" sz="2000" b="1" dirty="0">
                <a:solidFill>
                  <a:srgbClr val="1E293B"/>
                </a:solidFill>
                <a:latin typeface="Calibri" pitchFamily="34" charset="0"/>
                <a:ea typeface="Calibri" pitchFamily="34" charset="-122"/>
                <a:cs typeface="Calibri" pitchFamily="34" charset="-120"/>
              </a:rPr>
              <a:t>Risque de crash élevé</a:t>
            </a:r>
            <a:endParaRPr lang="en-US" sz="2000" dirty="0"/>
          </a:p>
        </p:txBody>
      </p:sp>
      <p:sp>
        <p:nvSpPr>
          <p:cNvPr id="18" name="Text 14"/>
          <p:cNvSpPr/>
          <p:nvPr/>
        </p:nvSpPr>
        <p:spPr>
          <a:xfrm>
            <a:off x="4617720" y="4526280"/>
            <a:ext cx="2926080" cy="1371600"/>
          </a:xfrm>
          <a:prstGeom prst="rect">
            <a:avLst/>
          </a:prstGeom>
          <a:noFill/>
          <a:ln/>
        </p:spPr>
        <p:txBody>
          <a:bodyPr wrap="square" lIns="0" tIns="0" rIns="0" bIns="0" rtlCol="0" anchor="ctr"/>
          <a:lstStyle/>
          <a:p>
            <a:pPr marL="0" indent="0">
              <a:buNone/>
            </a:pPr>
            <a:r>
              <a:rPr lang="en-US" sz="1300" dirty="0">
                <a:solidFill>
                  <a:srgbClr val="475569"/>
                </a:solidFill>
                <a:latin typeface="Calibri" pitchFamily="34" charset="0"/>
                <a:ea typeface="Calibri" pitchFamily="34" charset="-122"/>
                <a:cs typeface="Calibri" pitchFamily="34" charset="-120"/>
              </a:rPr>
              <a:t>Sans détection d'obstacles, un drone se crashe en moyenne après 4 vols pour un débutant. </a:t>
            </a:r>
            <a:endParaRPr lang="en-US" sz="1300" dirty="0"/>
          </a:p>
        </p:txBody>
      </p:sp>
      <p:sp>
        <p:nvSpPr>
          <p:cNvPr id="19" name="Shape 15"/>
          <p:cNvSpPr/>
          <p:nvPr/>
        </p:nvSpPr>
        <p:spPr>
          <a:xfrm>
            <a:off x="8138160" y="1828800"/>
            <a:ext cx="3657600" cy="4206240"/>
          </a:xfrm>
          <a:prstGeom prst="rect">
            <a:avLst/>
          </a:prstGeom>
          <a:solidFill>
            <a:srgbClr val="FFFFFF"/>
          </a:solidFill>
          <a:ln w="12700">
            <a:solidFill>
              <a:srgbClr val="E2E8F0"/>
            </a:solidFill>
            <a:prstDash val="solid"/>
          </a:ln>
          <a:effectLst>
            <a:outerShdw blurRad="152400" dist="50800" dir="5400000" algn="bl" rotWithShape="0">
              <a:srgbClr val="0F172A">
                <a:alpha val="6000"/>
              </a:srgbClr>
            </a:outerShdw>
          </a:effectLst>
        </p:spPr>
        <p:txBody>
          <a:bodyPr/>
          <a:lstStyle/>
          <a:p>
            <a:endParaRPr lang="en-US" dirty="0"/>
          </a:p>
        </p:txBody>
      </p:sp>
      <p:sp>
        <p:nvSpPr>
          <p:cNvPr id="20" name="Shape 16"/>
          <p:cNvSpPr/>
          <p:nvPr/>
        </p:nvSpPr>
        <p:spPr>
          <a:xfrm>
            <a:off x="8138160" y="1828800"/>
            <a:ext cx="3657600" cy="91440"/>
          </a:xfrm>
          <a:prstGeom prst="rect">
            <a:avLst/>
          </a:prstGeom>
          <a:solidFill>
            <a:srgbClr val="EF4444"/>
          </a:solidFill>
          <a:ln/>
        </p:spPr>
      </p:sp>
      <p:sp>
        <p:nvSpPr>
          <p:cNvPr id="21" name="Shape 17"/>
          <p:cNvSpPr/>
          <p:nvPr/>
        </p:nvSpPr>
        <p:spPr>
          <a:xfrm>
            <a:off x="8503920" y="2286000"/>
            <a:ext cx="914400" cy="914400"/>
          </a:xfrm>
          <a:prstGeom prst="rect">
            <a:avLst/>
          </a:prstGeom>
          <a:solidFill>
            <a:srgbClr val="E0E7FF"/>
          </a:solidFill>
          <a:ln/>
        </p:spPr>
      </p:sp>
      <p:pic>
        <p:nvPicPr>
          <p:cNvPr id="22" name="Image 2" descr="preencoded.png"/>
          <p:cNvPicPr>
            <a:picLocks noChangeAspect="1"/>
          </p:cNvPicPr>
          <p:nvPr/>
        </p:nvPicPr>
        <p:blipFill>
          <a:blip r:embed="rId5"/>
          <a:stretch>
            <a:fillRect/>
          </a:stretch>
        </p:blipFill>
        <p:spPr>
          <a:xfrm>
            <a:off x="8705088" y="2487168"/>
            <a:ext cx="512064" cy="512064"/>
          </a:xfrm>
          <a:prstGeom prst="rect">
            <a:avLst/>
          </a:prstGeom>
        </p:spPr>
      </p:pic>
      <p:sp>
        <p:nvSpPr>
          <p:cNvPr id="23" name="Text 18"/>
          <p:cNvSpPr/>
          <p:nvPr/>
        </p:nvSpPr>
        <p:spPr>
          <a:xfrm>
            <a:off x="8503920" y="3383280"/>
            <a:ext cx="2926080" cy="274320"/>
          </a:xfrm>
          <a:prstGeom prst="rect">
            <a:avLst/>
          </a:prstGeom>
          <a:noFill/>
          <a:ln/>
        </p:spPr>
        <p:txBody>
          <a:bodyPr wrap="square" lIns="0" tIns="0" rIns="0" bIns="0" rtlCol="0" anchor="ctr"/>
          <a:lstStyle/>
          <a:p>
            <a:pPr marL="0" indent="0">
              <a:buNone/>
            </a:pPr>
            <a:r>
              <a:rPr lang="en-US" sz="1000" b="1" kern="0" spc="600" dirty="0">
                <a:solidFill>
                  <a:srgbClr val="EF4444"/>
                </a:solidFill>
                <a:latin typeface="Calibri" pitchFamily="34" charset="0"/>
                <a:ea typeface="Calibri" pitchFamily="34" charset="-122"/>
                <a:cs typeface="Calibri" pitchFamily="34" charset="-120"/>
              </a:rPr>
              <a:t>PROBLÈME 03</a:t>
            </a:r>
            <a:endParaRPr lang="en-US" sz="1000" dirty="0"/>
          </a:p>
        </p:txBody>
      </p:sp>
      <p:sp>
        <p:nvSpPr>
          <p:cNvPr id="24" name="Text 19"/>
          <p:cNvSpPr/>
          <p:nvPr/>
        </p:nvSpPr>
        <p:spPr>
          <a:xfrm>
            <a:off x="8503920" y="3703320"/>
            <a:ext cx="2926080" cy="822960"/>
          </a:xfrm>
          <a:prstGeom prst="rect">
            <a:avLst/>
          </a:prstGeom>
          <a:noFill/>
          <a:ln/>
        </p:spPr>
        <p:txBody>
          <a:bodyPr wrap="square" lIns="0" tIns="0" rIns="0" bIns="0" rtlCol="0" anchor="ctr"/>
          <a:lstStyle/>
          <a:p>
            <a:pPr marL="0" indent="0">
              <a:buNone/>
            </a:pPr>
            <a:r>
              <a:rPr lang="en-US" sz="2000" b="1" dirty="0">
                <a:solidFill>
                  <a:srgbClr val="1E293B"/>
                </a:solidFill>
                <a:latin typeface="Calibri" pitchFamily="34" charset="0"/>
                <a:ea typeface="Calibri" pitchFamily="34" charset="-122"/>
                <a:cs typeface="Calibri" pitchFamily="34" charset="-120"/>
              </a:rPr>
              <a:t>Pas d'autonomie réelle</a:t>
            </a:r>
            <a:endParaRPr lang="en-US" sz="2000" dirty="0"/>
          </a:p>
        </p:txBody>
      </p:sp>
      <p:sp>
        <p:nvSpPr>
          <p:cNvPr id="25" name="Text 20"/>
          <p:cNvSpPr/>
          <p:nvPr/>
        </p:nvSpPr>
        <p:spPr>
          <a:xfrm>
            <a:off x="8503920" y="4526280"/>
            <a:ext cx="2926080" cy="1371600"/>
          </a:xfrm>
          <a:prstGeom prst="rect">
            <a:avLst/>
          </a:prstGeom>
          <a:noFill/>
          <a:ln/>
        </p:spPr>
        <p:txBody>
          <a:bodyPr wrap="square" lIns="0" tIns="0" rIns="0" bIns="0" rtlCol="0" anchor="ctr"/>
          <a:lstStyle/>
          <a:p>
            <a:pPr marL="0" indent="0">
              <a:buNone/>
            </a:pPr>
            <a:r>
              <a:rPr lang="en-US" sz="1300" dirty="0">
                <a:solidFill>
                  <a:srgbClr val="475569"/>
                </a:solidFill>
                <a:latin typeface="Calibri" pitchFamily="34" charset="0"/>
                <a:ea typeface="Calibri" pitchFamily="34" charset="-122"/>
                <a:cs typeface="Calibri" pitchFamily="34" charset="-120"/>
              </a:rPr>
              <a:t>Les drones grand public n'exécutent pas d'ordres complexes. "Va voir derrière ce bâtiment" reste hors de portée.</a:t>
            </a:r>
            <a:endParaRPr lang="en-US" sz="1300" dirty="0"/>
          </a:p>
        </p:txBody>
      </p:sp>
      <p:sp>
        <p:nvSpPr>
          <p:cNvPr id="26" name="Text 21"/>
          <p:cNvSpPr/>
          <p:nvPr/>
        </p:nvSpPr>
        <p:spPr>
          <a:xfrm>
            <a:off x="10881360" y="6473952"/>
            <a:ext cx="914400" cy="274320"/>
          </a:xfrm>
          <a:prstGeom prst="rect">
            <a:avLst/>
          </a:prstGeom>
          <a:noFill/>
          <a:ln/>
        </p:spPr>
        <p:txBody>
          <a:bodyPr wrap="square" lIns="0" tIns="0" rIns="0" bIns="0" rtlCol="0" anchor="ctr"/>
          <a:lstStyle/>
          <a:p>
            <a:pPr marL="0" indent="0" algn="r">
              <a:buNone/>
            </a:pPr>
            <a:r>
              <a:rPr lang="en-US" sz="900" kern="0" spc="400" dirty="0">
                <a:solidFill>
                  <a:srgbClr val="94A3B8"/>
                </a:solidFill>
                <a:latin typeface="Calibri" pitchFamily="34" charset="0"/>
                <a:ea typeface="Calibri" pitchFamily="34" charset="-122"/>
                <a:cs typeface="Calibri" pitchFamily="34" charset="-120"/>
              </a:rPr>
              <a:t>03 / 09</a:t>
            </a:r>
            <a:endParaRPr lang="en-US" sz="900" dirty="0"/>
          </a:p>
        </p:txBody>
      </p:sp>
      <p:sp>
        <p:nvSpPr>
          <p:cNvPr id="27" name="Text 22"/>
          <p:cNvSpPr/>
          <p:nvPr/>
        </p:nvSpPr>
        <p:spPr>
          <a:xfrm>
            <a:off x="457200" y="6473952"/>
            <a:ext cx="1828800" cy="274320"/>
          </a:xfrm>
          <a:prstGeom prst="rect">
            <a:avLst/>
          </a:prstGeom>
          <a:noFill/>
          <a:ln/>
        </p:spPr>
        <p:txBody>
          <a:bodyPr wrap="square" lIns="0" tIns="0" rIns="0" bIns="0" rtlCol="0" anchor="ctr"/>
          <a:lstStyle/>
          <a:p>
            <a:pPr marL="0" indent="0" algn="l">
              <a:buNone/>
            </a:pPr>
            <a:r>
              <a:rPr lang="en-US" sz="900" b="1" kern="0" spc="600" dirty="0">
                <a:solidFill>
                  <a:srgbClr val="4338CA"/>
                </a:solidFill>
                <a:latin typeface="Calibri" pitchFamily="34" charset="0"/>
                <a:ea typeface="Calibri" pitchFamily="34" charset="-122"/>
                <a:cs typeface="Calibri" pitchFamily="34" charset="-120"/>
              </a:rPr>
              <a:t>AI-R</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97087D-6321-DD8F-2283-9FF53381B100}"/>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853E3E2-45D0-594F-486E-BF29ADA01498}"/>
              </a:ext>
            </a:extLst>
          </p:cNvPr>
          <p:cNvSpPr/>
          <p:nvPr/>
        </p:nvSpPr>
        <p:spPr>
          <a:xfrm>
            <a:off x="457200" y="502920"/>
            <a:ext cx="73152" cy="640080"/>
          </a:xfrm>
          <a:prstGeom prst="rect">
            <a:avLst/>
          </a:prstGeom>
          <a:solidFill>
            <a:srgbClr val="06B6D4"/>
          </a:solidFill>
          <a:ln/>
        </p:spPr>
      </p:sp>
      <p:sp>
        <p:nvSpPr>
          <p:cNvPr id="3" name="Text 1">
            <a:extLst>
              <a:ext uri="{FF2B5EF4-FFF2-40B4-BE49-F238E27FC236}">
                <a16:creationId xmlns:a16="http://schemas.microsoft.com/office/drawing/2014/main" id="{AD4205F1-78B1-329C-CC42-26236C2658FF}"/>
              </a:ext>
            </a:extLst>
          </p:cNvPr>
          <p:cNvSpPr/>
          <p:nvPr/>
        </p:nvSpPr>
        <p:spPr>
          <a:xfrm>
            <a:off x="713232" y="457200"/>
            <a:ext cx="10789920" cy="731520"/>
          </a:xfrm>
          <a:prstGeom prst="rect">
            <a:avLst/>
          </a:prstGeom>
          <a:noFill/>
          <a:ln/>
        </p:spPr>
        <p:txBody>
          <a:bodyPr wrap="square" lIns="0" tIns="0" rIns="0" bIns="0" rtlCol="0" anchor="ctr"/>
          <a:lstStyle/>
          <a:p>
            <a:pPr marL="0" indent="0" algn="l">
              <a:buNone/>
            </a:pPr>
            <a:r>
              <a:rPr lang="fr-FR" sz="3200" b="1" dirty="0">
                <a:solidFill>
                  <a:srgbClr val="1E293B"/>
                </a:solidFill>
                <a:latin typeface="Calibri" pitchFamily="34" charset="0"/>
                <a:cs typeface="Calibri" pitchFamily="34" charset="-120"/>
              </a:rPr>
              <a:t>P</a:t>
            </a:r>
            <a:r>
              <a:rPr lang="en-US" sz="3200" b="1" dirty="0" err="1">
                <a:solidFill>
                  <a:srgbClr val="1E293B"/>
                </a:solidFill>
                <a:latin typeface="Calibri" pitchFamily="34" charset="0"/>
                <a:cs typeface="Calibri" pitchFamily="34" charset="-120"/>
              </a:rPr>
              <a:t>roblématique</a:t>
            </a:r>
            <a:endParaRPr lang="en-US" sz="3200" dirty="0"/>
          </a:p>
        </p:txBody>
      </p:sp>
      <p:sp>
        <p:nvSpPr>
          <p:cNvPr id="4" name="Text 2">
            <a:extLst>
              <a:ext uri="{FF2B5EF4-FFF2-40B4-BE49-F238E27FC236}">
                <a16:creationId xmlns:a16="http://schemas.microsoft.com/office/drawing/2014/main" id="{4339D5CC-580F-DF77-5147-FB716DA51315}"/>
              </a:ext>
            </a:extLst>
          </p:cNvPr>
          <p:cNvSpPr/>
          <p:nvPr/>
        </p:nvSpPr>
        <p:spPr>
          <a:xfrm>
            <a:off x="713232" y="1143000"/>
            <a:ext cx="9144000" cy="365760"/>
          </a:xfrm>
          <a:prstGeom prst="rect">
            <a:avLst/>
          </a:prstGeom>
          <a:noFill/>
          <a:ln/>
        </p:spPr>
        <p:txBody>
          <a:bodyPr wrap="square" lIns="0" tIns="0" rIns="0" bIns="0" rtlCol="0" anchor="ctr"/>
          <a:lstStyle/>
          <a:p>
            <a:pPr marL="0" indent="0">
              <a:buNone/>
            </a:pPr>
            <a:endParaRPr lang="en-US" sz="1300" dirty="0"/>
          </a:p>
        </p:txBody>
      </p:sp>
      <p:sp>
        <p:nvSpPr>
          <p:cNvPr id="5" name="Text 3">
            <a:extLst>
              <a:ext uri="{FF2B5EF4-FFF2-40B4-BE49-F238E27FC236}">
                <a16:creationId xmlns:a16="http://schemas.microsoft.com/office/drawing/2014/main" id="{4F88B06A-3370-21F7-299D-B90F364C2AF6}"/>
              </a:ext>
            </a:extLst>
          </p:cNvPr>
          <p:cNvSpPr/>
          <p:nvPr/>
        </p:nvSpPr>
        <p:spPr>
          <a:xfrm>
            <a:off x="799106" y="4160520"/>
            <a:ext cx="5669280" cy="640080"/>
          </a:xfrm>
          <a:prstGeom prst="rect">
            <a:avLst/>
          </a:prstGeom>
          <a:noFill/>
          <a:ln/>
        </p:spPr>
        <p:txBody>
          <a:bodyPr wrap="square" lIns="0" tIns="0" rIns="0" bIns="0" rtlCol="0" anchor="ctr"/>
          <a:lstStyle/>
          <a:p>
            <a:pPr marL="0" indent="0">
              <a:spcAft>
                <a:spcPts val="600"/>
              </a:spcAft>
              <a:buNone/>
            </a:pPr>
            <a:endParaRPr lang="en-US" sz="1400" dirty="0"/>
          </a:p>
        </p:txBody>
      </p:sp>
      <p:sp>
        <p:nvSpPr>
          <p:cNvPr id="6" name="Text 4">
            <a:extLst>
              <a:ext uri="{FF2B5EF4-FFF2-40B4-BE49-F238E27FC236}">
                <a16:creationId xmlns:a16="http://schemas.microsoft.com/office/drawing/2014/main" id="{2C01FD10-B627-1ECA-D691-5B9DB094C01A}"/>
              </a:ext>
            </a:extLst>
          </p:cNvPr>
          <p:cNvSpPr/>
          <p:nvPr/>
        </p:nvSpPr>
        <p:spPr>
          <a:xfrm>
            <a:off x="975625" y="1746334"/>
            <a:ext cx="5669280" cy="2414186"/>
          </a:xfrm>
          <a:prstGeom prst="rect">
            <a:avLst/>
          </a:prstGeom>
          <a:noFill/>
          <a:ln/>
        </p:spPr>
        <p:txBody>
          <a:bodyPr wrap="square" lIns="0" tIns="0" rIns="0" bIns="0" rtlCol="0" anchor="ctr"/>
          <a:lstStyle/>
          <a:p>
            <a:endParaRPr lang="en-US" sz="1600" dirty="0"/>
          </a:p>
        </p:txBody>
      </p:sp>
      <p:sp>
        <p:nvSpPr>
          <p:cNvPr id="11" name="Text 8">
            <a:extLst>
              <a:ext uri="{FF2B5EF4-FFF2-40B4-BE49-F238E27FC236}">
                <a16:creationId xmlns:a16="http://schemas.microsoft.com/office/drawing/2014/main" id="{9485F7FF-6686-7B97-FDB1-5168978520AD}"/>
              </a:ext>
            </a:extLst>
          </p:cNvPr>
          <p:cNvSpPr/>
          <p:nvPr/>
        </p:nvSpPr>
        <p:spPr>
          <a:xfrm>
            <a:off x="8046720" y="1965960"/>
            <a:ext cx="3840480" cy="502920"/>
          </a:xfrm>
          <a:prstGeom prst="rect">
            <a:avLst/>
          </a:prstGeom>
          <a:noFill/>
          <a:ln/>
        </p:spPr>
        <p:txBody>
          <a:bodyPr wrap="square" lIns="0" tIns="0" rIns="0" bIns="0" rtlCol="0" anchor="ctr"/>
          <a:lstStyle/>
          <a:p>
            <a:pPr marL="0" indent="0">
              <a:buNone/>
            </a:pPr>
            <a:endParaRPr lang="en-US" sz="2800" dirty="0"/>
          </a:p>
        </p:txBody>
      </p:sp>
      <p:sp>
        <p:nvSpPr>
          <p:cNvPr id="12" name="Text 9">
            <a:extLst>
              <a:ext uri="{FF2B5EF4-FFF2-40B4-BE49-F238E27FC236}">
                <a16:creationId xmlns:a16="http://schemas.microsoft.com/office/drawing/2014/main" id="{8F9DB2E3-4DC1-825D-3AFB-EF74908FB5BC}"/>
              </a:ext>
            </a:extLst>
          </p:cNvPr>
          <p:cNvSpPr/>
          <p:nvPr/>
        </p:nvSpPr>
        <p:spPr>
          <a:xfrm>
            <a:off x="8046720" y="2468880"/>
            <a:ext cx="3840480" cy="411480"/>
          </a:xfrm>
          <a:prstGeom prst="rect">
            <a:avLst/>
          </a:prstGeom>
          <a:noFill/>
          <a:ln/>
        </p:spPr>
        <p:txBody>
          <a:bodyPr wrap="square" lIns="0" tIns="0" rIns="0" bIns="0" rtlCol="0" anchor="ctr"/>
          <a:lstStyle/>
          <a:p>
            <a:pPr marL="0" indent="0">
              <a:buNone/>
            </a:pPr>
            <a:endParaRPr lang="en-US" sz="1100" dirty="0"/>
          </a:p>
        </p:txBody>
      </p:sp>
      <p:sp>
        <p:nvSpPr>
          <p:cNvPr id="17" name="Text 13">
            <a:extLst>
              <a:ext uri="{FF2B5EF4-FFF2-40B4-BE49-F238E27FC236}">
                <a16:creationId xmlns:a16="http://schemas.microsoft.com/office/drawing/2014/main" id="{4698B305-10AB-A5AA-3958-6649B294C7BA}"/>
              </a:ext>
            </a:extLst>
          </p:cNvPr>
          <p:cNvSpPr/>
          <p:nvPr/>
        </p:nvSpPr>
        <p:spPr>
          <a:xfrm>
            <a:off x="8046720" y="3383280"/>
            <a:ext cx="3840480" cy="502920"/>
          </a:xfrm>
          <a:prstGeom prst="rect">
            <a:avLst/>
          </a:prstGeom>
          <a:noFill/>
          <a:ln/>
        </p:spPr>
        <p:txBody>
          <a:bodyPr wrap="square" lIns="0" tIns="0" rIns="0" bIns="0" rtlCol="0" anchor="ctr"/>
          <a:lstStyle/>
          <a:p>
            <a:pPr marL="0" indent="0">
              <a:buNone/>
            </a:pPr>
            <a:endParaRPr lang="en-US" sz="2800" dirty="0"/>
          </a:p>
        </p:txBody>
      </p:sp>
      <p:sp>
        <p:nvSpPr>
          <p:cNvPr id="18" name="Text 14">
            <a:extLst>
              <a:ext uri="{FF2B5EF4-FFF2-40B4-BE49-F238E27FC236}">
                <a16:creationId xmlns:a16="http://schemas.microsoft.com/office/drawing/2014/main" id="{FFEDDBC4-6A0E-8E67-87EA-A46972C8965B}"/>
              </a:ext>
            </a:extLst>
          </p:cNvPr>
          <p:cNvSpPr/>
          <p:nvPr/>
        </p:nvSpPr>
        <p:spPr>
          <a:xfrm>
            <a:off x="8046720" y="3886200"/>
            <a:ext cx="3840480" cy="411480"/>
          </a:xfrm>
          <a:prstGeom prst="rect">
            <a:avLst/>
          </a:prstGeom>
          <a:noFill/>
          <a:ln/>
        </p:spPr>
        <p:txBody>
          <a:bodyPr wrap="square" lIns="0" tIns="0" rIns="0" bIns="0" rtlCol="0" anchor="ctr"/>
          <a:lstStyle/>
          <a:p>
            <a:pPr marL="0" indent="0">
              <a:buNone/>
            </a:pPr>
            <a:endParaRPr lang="en-US" sz="1100" dirty="0"/>
          </a:p>
        </p:txBody>
      </p:sp>
      <p:sp>
        <p:nvSpPr>
          <p:cNvPr id="23" name="Text 18">
            <a:extLst>
              <a:ext uri="{FF2B5EF4-FFF2-40B4-BE49-F238E27FC236}">
                <a16:creationId xmlns:a16="http://schemas.microsoft.com/office/drawing/2014/main" id="{BB1A87B4-4A63-FC6D-DFA6-BE5DB7122CFD}"/>
              </a:ext>
            </a:extLst>
          </p:cNvPr>
          <p:cNvSpPr/>
          <p:nvPr/>
        </p:nvSpPr>
        <p:spPr>
          <a:xfrm>
            <a:off x="8046720" y="4800600"/>
            <a:ext cx="3840480" cy="502920"/>
          </a:xfrm>
          <a:prstGeom prst="rect">
            <a:avLst/>
          </a:prstGeom>
          <a:noFill/>
          <a:ln/>
        </p:spPr>
        <p:txBody>
          <a:bodyPr wrap="square" lIns="0" tIns="0" rIns="0" bIns="0" rtlCol="0" anchor="ctr"/>
          <a:lstStyle/>
          <a:p>
            <a:pPr marL="0" indent="0">
              <a:buNone/>
            </a:pPr>
            <a:endParaRPr lang="en-US" sz="2800" dirty="0"/>
          </a:p>
        </p:txBody>
      </p:sp>
      <p:sp>
        <p:nvSpPr>
          <p:cNvPr id="24" name="Text 19">
            <a:extLst>
              <a:ext uri="{FF2B5EF4-FFF2-40B4-BE49-F238E27FC236}">
                <a16:creationId xmlns:a16="http://schemas.microsoft.com/office/drawing/2014/main" id="{9748AC30-82CB-25A2-F218-20A25166CFCE}"/>
              </a:ext>
            </a:extLst>
          </p:cNvPr>
          <p:cNvSpPr/>
          <p:nvPr/>
        </p:nvSpPr>
        <p:spPr>
          <a:xfrm>
            <a:off x="8046720" y="5303520"/>
            <a:ext cx="3840480" cy="411480"/>
          </a:xfrm>
          <a:prstGeom prst="rect">
            <a:avLst/>
          </a:prstGeom>
          <a:noFill/>
          <a:ln/>
        </p:spPr>
        <p:txBody>
          <a:bodyPr wrap="square" lIns="0" tIns="0" rIns="0" bIns="0" rtlCol="0" anchor="ctr"/>
          <a:lstStyle/>
          <a:p>
            <a:pPr marL="0" indent="0">
              <a:buNone/>
            </a:pPr>
            <a:endParaRPr lang="en-US" sz="1100" dirty="0"/>
          </a:p>
        </p:txBody>
      </p:sp>
      <p:sp>
        <p:nvSpPr>
          <p:cNvPr id="25" name="Text 20">
            <a:extLst>
              <a:ext uri="{FF2B5EF4-FFF2-40B4-BE49-F238E27FC236}">
                <a16:creationId xmlns:a16="http://schemas.microsoft.com/office/drawing/2014/main" id="{03AE5B03-AFCE-F82D-765F-002BF5FECC15}"/>
              </a:ext>
            </a:extLst>
          </p:cNvPr>
          <p:cNvSpPr/>
          <p:nvPr/>
        </p:nvSpPr>
        <p:spPr>
          <a:xfrm>
            <a:off x="10881360" y="6473952"/>
            <a:ext cx="914400" cy="274320"/>
          </a:xfrm>
          <a:prstGeom prst="rect">
            <a:avLst/>
          </a:prstGeom>
          <a:noFill/>
          <a:ln/>
        </p:spPr>
        <p:txBody>
          <a:bodyPr wrap="square" lIns="0" tIns="0" rIns="0" bIns="0" rtlCol="0" anchor="ctr"/>
          <a:lstStyle/>
          <a:p>
            <a:pPr marL="0" indent="0" algn="r">
              <a:buNone/>
            </a:pPr>
            <a:r>
              <a:rPr lang="en-US" sz="900" kern="0" spc="400" dirty="0">
                <a:solidFill>
                  <a:srgbClr val="94A3B8"/>
                </a:solidFill>
                <a:latin typeface="Calibri" pitchFamily="34" charset="0"/>
                <a:ea typeface="Calibri" pitchFamily="34" charset="-122"/>
                <a:cs typeface="Calibri" pitchFamily="34" charset="-120"/>
              </a:rPr>
              <a:t>02 / 09</a:t>
            </a:r>
            <a:endParaRPr lang="en-US" sz="900" dirty="0"/>
          </a:p>
        </p:txBody>
      </p:sp>
      <p:sp>
        <p:nvSpPr>
          <p:cNvPr id="26" name="Text 21">
            <a:extLst>
              <a:ext uri="{FF2B5EF4-FFF2-40B4-BE49-F238E27FC236}">
                <a16:creationId xmlns:a16="http://schemas.microsoft.com/office/drawing/2014/main" id="{C3B5E728-1AFA-BDD6-B0CE-90290085F2F9}"/>
              </a:ext>
            </a:extLst>
          </p:cNvPr>
          <p:cNvSpPr/>
          <p:nvPr/>
        </p:nvSpPr>
        <p:spPr>
          <a:xfrm>
            <a:off x="457200" y="6473952"/>
            <a:ext cx="1828800" cy="274320"/>
          </a:xfrm>
          <a:prstGeom prst="rect">
            <a:avLst/>
          </a:prstGeom>
          <a:noFill/>
          <a:ln/>
        </p:spPr>
        <p:txBody>
          <a:bodyPr wrap="square" lIns="0" tIns="0" rIns="0" bIns="0" rtlCol="0" anchor="ctr"/>
          <a:lstStyle/>
          <a:p>
            <a:pPr marL="0" indent="0" algn="l">
              <a:buNone/>
            </a:pPr>
            <a:r>
              <a:rPr lang="en-US" sz="900" b="1" kern="0" spc="600" dirty="0">
                <a:solidFill>
                  <a:srgbClr val="4338CA"/>
                </a:solidFill>
                <a:latin typeface="Calibri" pitchFamily="34" charset="0"/>
                <a:ea typeface="Calibri" pitchFamily="34" charset="-122"/>
                <a:cs typeface="Calibri" pitchFamily="34" charset="-120"/>
              </a:rPr>
              <a:t>AI-R</a:t>
            </a:r>
            <a:endParaRPr lang="en-US" sz="900" dirty="0"/>
          </a:p>
        </p:txBody>
      </p:sp>
      <p:sp>
        <p:nvSpPr>
          <p:cNvPr id="7" name="ZoneTexte 6">
            <a:extLst>
              <a:ext uri="{FF2B5EF4-FFF2-40B4-BE49-F238E27FC236}">
                <a16:creationId xmlns:a16="http://schemas.microsoft.com/office/drawing/2014/main" id="{D8DCA733-4154-DD70-3FC5-AFC8E9853D3B}"/>
              </a:ext>
            </a:extLst>
          </p:cNvPr>
          <p:cNvSpPr txBox="1"/>
          <p:nvPr/>
        </p:nvSpPr>
        <p:spPr>
          <a:xfrm>
            <a:off x="975625" y="1885770"/>
            <a:ext cx="7657106" cy="1200329"/>
          </a:xfrm>
          <a:prstGeom prst="rect">
            <a:avLst/>
          </a:prstGeom>
          <a:noFill/>
        </p:spPr>
        <p:txBody>
          <a:bodyPr wrap="square" rtlCol="0">
            <a:spAutoFit/>
          </a:bodyPr>
          <a:lstStyle/>
          <a:p>
            <a:r>
              <a:rPr lang="fr-FR" dirty="0"/>
              <a:t>"Comment transformer le drone en un soldat numérique autonome capable de comprendre le langage naturel pour réduire l'exposition des troupes humaines au danger, tout en garantissant une analyse précise du terrain grâce à l'intelligence artificielle ?"                            </a:t>
            </a:r>
            <a:endParaRPr lang="en-US" dirty="0"/>
          </a:p>
        </p:txBody>
      </p:sp>
    </p:spTree>
    <p:extLst>
      <p:ext uri="{BB962C8B-B14F-4D97-AF65-F5344CB8AC3E}">
        <p14:creationId xmlns:p14="http://schemas.microsoft.com/office/powerpoint/2010/main" val="42034958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457200" y="502920"/>
            <a:ext cx="73152" cy="640080"/>
          </a:xfrm>
          <a:prstGeom prst="rect">
            <a:avLst/>
          </a:prstGeom>
          <a:solidFill>
            <a:srgbClr val="06B6D4"/>
          </a:solidFill>
          <a:ln/>
        </p:spPr>
      </p:sp>
      <p:sp>
        <p:nvSpPr>
          <p:cNvPr id="3" name="Text 1"/>
          <p:cNvSpPr/>
          <p:nvPr/>
        </p:nvSpPr>
        <p:spPr>
          <a:xfrm>
            <a:off x="713232" y="457200"/>
            <a:ext cx="10789920" cy="731520"/>
          </a:xfrm>
          <a:prstGeom prst="rect">
            <a:avLst/>
          </a:prstGeom>
          <a:noFill/>
          <a:ln/>
        </p:spPr>
        <p:txBody>
          <a:bodyPr wrap="square" lIns="0" tIns="0" rIns="0" bIns="0" rtlCol="0" anchor="ctr"/>
          <a:lstStyle/>
          <a:p>
            <a:pPr marL="0" indent="0" algn="l">
              <a:buNone/>
            </a:pPr>
            <a:r>
              <a:rPr lang="en-US" sz="3200" b="1" dirty="0">
                <a:solidFill>
                  <a:srgbClr val="1E293B"/>
                </a:solidFill>
                <a:latin typeface="Calibri" pitchFamily="34" charset="0"/>
                <a:ea typeface="Calibri" pitchFamily="34" charset="-122"/>
                <a:cs typeface="Calibri" pitchFamily="34" charset="-120"/>
              </a:rPr>
              <a:t>Cartographie des solutions existantes</a:t>
            </a:r>
            <a:endParaRPr lang="en-US" sz="3200" dirty="0"/>
          </a:p>
        </p:txBody>
      </p:sp>
      <p:sp>
        <p:nvSpPr>
          <p:cNvPr id="4" name="Text 2"/>
          <p:cNvSpPr/>
          <p:nvPr/>
        </p:nvSpPr>
        <p:spPr>
          <a:xfrm>
            <a:off x="713232" y="1143000"/>
            <a:ext cx="9144000" cy="365760"/>
          </a:xfrm>
          <a:prstGeom prst="rect">
            <a:avLst/>
          </a:prstGeom>
          <a:noFill/>
          <a:ln/>
        </p:spPr>
        <p:txBody>
          <a:bodyPr wrap="square" lIns="0" tIns="0" rIns="0" bIns="0" rtlCol="0" anchor="ctr"/>
          <a:lstStyle/>
          <a:p>
            <a:pPr marL="0" indent="0">
              <a:buNone/>
            </a:pPr>
            <a:r>
              <a:rPr lang="en-US" sz="1300" kern="0" spc="400" dirty="0">
                <a:solidFill>
                  <a:srgbClr val="475569"/>
                </a:solidFill>
                <a:latin typeface="Calibri" pitchFamily="34" charset="0"/>
                <a:ea typeface="Calibri" pitchFamily="34" charset="-122"/>
                <a:cs typeface="Calibri" pitchFamily="34" charset="-120"/>
              </a:rPr>
              <a:t>03 · Que propose le marché aujourd'hui ?</a:t>
            </a:r>
            <a:endParaRPr lang="en-US" sz="1300" dirty="0"/>
          </a:p>
        </p:txBody>
      </p:sp>
      <p:sp>
        <p:nvSpPr>
          <p:cNvPr id="5" name="Shape 3"/>
          <p:cNvSpPr/>
          <p:nvPr/>
        </p:nvSpPr>
        <p:spPr>
          <a:xfrm>
            <a:off x="713232" y="1783080"/>
            <a:ext cx="2926080" cy="502920"/>
          </a:xfrm>
          <a:prstGeom prst="rect">
            <a:avLst/>
          </a:prstGeom>
          <a:solidFill>
            <a:srgbClr val="0B1120"/>
          </a:solidFill>
          <a:ln w="12700">
            <a:solidFill>
              <a:srgbClr val="0B1120"/>
            </a:solidFill>
            <a:prstDash val="solid"/>
          </a:ln>
        </p:spPr>
      </p:sp>
      <p:sp>
        <p:nvSpPr>
          <p:cNvPr id="6" name="Text 4"/>
          <p:cNvSpPr/>
          <p:nvPr/>
        </p:nvSpPr>
        <p:spPr>
          <a:xfrm>
            <a:off x="804672" y="1783080"/>
            <a:ext cx="2743200" cy="502920"/>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Solution</a:t>
            </a:r>
            <a:endParaRPr lang="en-US" sz="1100" dirty="0"/>
          </a:p>
        </p:txBody>
      </p:sp>
      <p:sp>
        <p:nvSpPr>
          <p:cNvPr id="7" name="Shape 5"/>
          <p:cNvSpPr/>
          <p:nvPr/>
        </p:nvSpPr>
        <p:spPr>
          <a:xfrm>
            <a:off x="3639312" y="1783080"/>
            <a:ext cx="1371600" cy="502920"/>
          </a:xfrm>
          <a:prstGeom prst="rect">
            <a:avLst/>
          </a:prstGeom>
          <a:solidFill>
            <a:srgbClr val="0B1120"/>
          </a:solidFill>
          <a:ln w="12700">
            <a:solidFill>
              <a:srgbClr val="0B1120"/>
            </a:solidFill>
            <a:prstDash val="solid"/>
          </a:ln>
        </p:spPr>
      </p:sp>
      <p:sp>
        <p:nvSpPr>
          <p:cNvPr id="8" name="Text 6"/>
          <p:cNvSpPr/>
          <p:nvPr/>
        </p:nvSpPr>
        <p:spPr>
          <a:xfrm>
            <a:off x="3730752" y="1783080"/>
            <a:ext cx="1188720" cy="50292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Pilotage NL</a:t>
            </a:r>
            <a:endParaRPr lang="en-US" sz="1150" dirty="0"/>
          </a:p>
        </p:txBody>
      </p:sp>
      <p:sp>
        <p:nvSpPr>
          <p:cNvPr id="9" name="Shape 7"/>
          <p:cNvSpPr/>
          <p:nvPr/>
        </p:nvSpPr>
        <p:spPr>
          <a:xfrm>
            <a:off x="5010912" y="1783080"/>
            <a:ext cx="1371600" cy="502920"/>
          </a:xfrm>
          <a:prstGeom prst="rect">
            <a:avLst/>
          </a:prstGeom>
          <a:solidFill>
            <a:srgbClr val="0B1120"/>
          </a:solidFill>
          <a:ln w="12700">
            <a:solidFill>
              <a:srgbClr val="0B1120"/>
            </a:solidFill>
            <a:prstDash val="solid"/>
          </a:ln>
        </p:spPr>
      </p:sp>
      <p:sp>
        <p:nvSpPr>
          <p:cNvPr id="10" name="Text 8"/>
          <p:cNvSpPr/>
          <p:nvPr/>
        </p:nvSpPr>
        <p:spPr>
          <a:xfrm>
            <a:off x="5102352" y="1783080"/>
            <a:ext cx="1188720" cy="50292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Vision IA</a:t>
            </a:r>
            <a:endParaRPr lang="en-US" sz="1150" dirty="0"/>
          </a:p>
        </p:txBody>
      </p:sp>
      <p:sp>
        <p:nvSpPr>
          <p:cNvPr id="11" name="Shape 9"/>
          <p:cNvSpPr/>
          <p:nvPr/>
        </p:nvSpPr>
        <p:spPr>
          <a:xfrm>
            <a:off x="6382512" y="1783080"/>
            <a:ext cx="1645920" cy="502920"/>
          </a:xfrm>
          <a:prstGeom prst="rect">
            <a:avLst/>
          </a:prstGeom>
          <a:solidFill>
            <a:srgbClr val="0B1120"/>
          </a:solidFill>
          <a:ln w="12700">
            <a:solidFill>
              <a:srgbClr val="0B1120"/>
            </a:solidFill>
            <a:prstDash val="solid"/>
          </a:ln>
        </p:spPr>
      </p:sp>
      <p:sp>
        <p:nvSpPr>
          <p:cNvPr id="12" name="Text 10"/>
          <p:cNvSpPr/>
          <p:nvPr/>
        </p:nvSpPr>
        <p:spPr>
          <a:xfrm>
            <a:off x="6473952" y="1783080"/>
            <a:ext cx="1463040" cy="50292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Évitement</a:t>
            </a:r>
            <a:endParaRPr lang="en-US" sz="1150" dirty="0"/>
          </a:p>
        </p:txBody>
      </p:sp>
      <p:sp>
        <p:nvSpPr>
          <p:cNvPr id="13" name="Shape 11"/>
          <p:cNvSpPr/>
          <p:nvPr/>
        </p:nvSpPr>
        <p:spPr>
          <a:xfrm>
            <a:off x="8028432" y="1783080"/>
            <a:ext cx="1463040" cy="502920"/>
          </a:xfrm>
          <a:prstGeom prst="rect">
            <a:avLst/>
          </a:prstGeom>
          <a:solidFill>
            <a:srgbClr val="0B1120"/>
          </a:solidFill>
          <a:ln w="12700">
            <a:solidFill>
              <a:srgbClr val="0B1120"/>
            </a:solidFill>
            <a:prstDash val="solid"/>
          </a:ln>
        </p:spPr>
      </p:sp>
      <p:sp>
        <p:nvSpPr>
          <p:cNvPr id="14" name="Text 12"/>
          <p:cNvSpPr/>
          <p:nvPr/>
        </p:nvSpPr>
        <p:spPr>
          <a:xfrm>
            <a:off x="8119872" y="1783080"/>
            <a:ext cx="1280160" cy="502920"/>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Open Source</a:t>
            </a:r>
            <a:endParaRPr lang="en-US" sz="1150" dirty="0"/>
          </a:p>
        </p:txBody>
      </p:sp>
      <p:sp>
        <p:nvSpPr>
          <p:cNvPr id="17" name="Shape 15"/>
          <p:cNvSpPr/>
          <p:nvPr/>
        </p:nvSpPr>
        <p:spPr>
          <a:xfrm>
            <a:off x="713232" y="2286000"/>
            <a:ext cx="2926080" cy="502920"/>
          </a:xfrm>
          <a:prstGeom prst="rect">
            <a:avLst/>
          </a:prstGeom>
          <a:solidFill>
            <a:srgbClr val="FFFFFF"/>
          </a:solidFill>
          <a:ln w="6350">
            <a:solidFill>
              <a:srgbClr val="E2E8F0"/>
            </a:solidFill>
            <a:prstDash val="solid"/>
          </a:ln>
        </p:spPr>
      </p:sp>
      <p:sp>
        <p:nvSpPr>
          <p:cNvPr id="18" name="Text 16"/>
          <p:cNvSpPr/>
          <p:nvPr/>
        </p:nvSpPr>
        <p:spPr>
          <a:xfrm>
            <a:off x="804672" y="2286000"/>
            <a:ext cx="2743200" cy="502920"/>
          </a:xfrm>
          <a:prstGeom prst="rect">
            <a:avLst/>
          </a:prstGeom>
          <a:noFill/>
          <a:ln/>
        </p:spPr>
        <p:txBody>
          <a:bodyPr wrap="square" lIns="0" tIns="0" rIns="0" bIns="0" rtlCol="0" anchor="ctr"/>
          <a:lstStyle/>
          <a:p>
            <a:pPr marL="0" indent="0" algn="l">
              <a:buNone/>
            </a:pPr>
            <a:r>
              <a:rPr lang="en-US" sz="1100" b="1" dirty="0">
                <a:solidFill>
                  <a:srgbClr val="1E293B"/>
                </a:solidFill>
                <a:latin typeface="Calibri" pitchFamily="34" charset="0"/>
                <a:ea typeface="Calibri" pitchFamily="34" charset="-122"/>
                <a:cs typeface="Calibri" pitchFamily="34" charset="-120"/>
              </a:rPr>
              <a:t>DJI Fly (app officielle)</a:t>
            </a:r>
            <a:endParaRPr lang="en-US" sz="1100" dirty="0"/>
          </a:p>
        </p:txBody>
      </p:sp>
      <p:sp>
        <p:nvSpPr>
          <p:cNvPr id="19" name="Shape 17"/>
          <p:cNvSpPr/>
          <p:nvPr/>
        </p:nvSpPr>
        <p:spPr>
          <a:xfrm>
            <a:off x="3639312" y="2286000"/>
            <a:ext cx="1371600" cy="502920"/>
          </a:xfrm>
          <a:prstGeom prst="rect">
            <a:avLst/>
          </a:prstGeom>
          <a:solidFill>
            <a:srgbClr val="FFFFFF"/>
          </a:solidFill>
          <a:ln w="6350">
            <a:solidFill>
              <a:srgbClr val="E2E8F0"/>
            </a:solidFill>
            <a:prstDash val="solid"/>
          </a:ln>
        </p:spPr>
      </p:sp>
      <p:sp>
        <p:nvSpPr>
          <p:cNvPr id="20" name="Text 18"/>
          <p:cNvSpPr/>
          <p:nvPr/>
        </p:nvSpPr>
        <p:spPr>
          <a:xfrm>
            <a:off x="3730752" y="2286000"/>
            <a:ext cx="1188720" cy="502920"/>
          </a:xfrm>
          <a:prstGeom prst="rect">
            <a:avLst/>
          </a:prstGeom>
          <a:noFill/>
          <a:ln/>
        </p:spPr>
        <p:txBody>
          <a:bodyPr wrap="square" lIns="0" tIns="0" rIns="0" bIns="0" rtlCol="0" anchor="ctr"/>
          <a:lstStyle/>
          <a:p>
            <a:pPr marL="0" indent="0" algn="ctr">
              <a:buNone/>
            </a:pPr>
            <a:r>
              <a:rPr lang="en-US" sz="1150" dirty="0">
                <a:solidFill>
                  <a:srgbClr val="EF4444"/>
                </a:solidFill>
                <a:latin typeface="Calibri" pitchFamily="34" charset="0"/>
                <a:ea typeface="Calibri" pitchFamily="34" charset="-122"/>
                <a:cs typeface="Calibri" pitchFamily="34" charset="-120"/>
              </a:rPr>
              <a:t>✗</a:t>
            </a:r>
            <a:endParaRPr lang="en-US" sz="1150" dirty="0"/>
          </a:p>
        </p:txBody>
      </p:sp>
      <p:sp>
        <p:nvSpPr>
          <p:cNvPr id="21" name="Shape 19"/>
          <p:cNvSpPr/>
          <p:nvPr/>
        </p:nvSpPr>
        <p:spPr>
          <a:xfrm>
            <a:off x="5010912" y="2286000"/>
            <a:ext cx="1371600" cy="502920"/>
          </a:xfrm>
          <a:prstGeom prst="rect">
            <a:avLst/>
          </a:prstGeom>
          <a:solidFill>
            <a:srgbClr val="FFFFFF"/>
          </a:solidFill>
          <a:ln w="6350">
            <a:solidFill>
              <a:srgbClr val="E2E8F0"/>
            </a:solidFill>
            <a:prstDash val="solid"/>
          </a:ln>
        </p:spPr>
      </p:sp>
      <p:sp>
        <p:nvSpPr>
          <p:cNvPr id="22" name="Text 20"/>
          <p:cNvSpPr/>
          <p:nvPr/>
        </p:nvSpPr>
        <p:spPr>
          <a:xfrm>
            <a:off x="5102352" y="2286000"/>
            <a:ext cx="1188720" cy="502920"/>
          </a:xfrm>
          <a:prstGeom prst="rect">
            <a:avLst/>
          </a:prstGeom>
          <a:noFill/>
          <a:ln/>
        </p:spPr>
        <p:txBody>
          <a:bodyPr wrap="square" lIns="0" tIns="0" rIns="0" bIns="0" rtlCol="0" anchor="ctr"/>
          <a:lstStyle/>
          <a:p>
            <a:pPr marL="0" indent="0" algn="ctr">
              <a:buNone/>
            </a:pPr>
            <a:r>
              <a:rPr lang="en-US" sz="1150" dirty="0">
                <a:solidFill>
                  <a:srgbClr val="1E293B"/>
                </a:solidFill>
                <a:latin typeface="Calibri" pitchFamily="34" charset="0"/>
                <a:ea typeface="Calibri" pitchFamily="34" charset="-122"/>
                <a:cs typeface="Calibri" pitchFamily="34" charset="-120"/>
              </a:rPr>
              <a:t>Partiel</a:t>
            </a:r>
            <a:endParaRPr lang="en-US" sz="1150" dirty="0"/>
          </a:p>
        </p:txBody>
      </p:sp>
      <p:sp>
        <p:nvSpPr>
          <p:cNvPr id="23" name="Shape 21"/>
          <p:cNvSpPr/>
          <p:nvPr/>
        </p:nvSpPr>
        <p:spPr>
          <a:xfrm>
            <a:off x="6382512" y="2286000"/>
            <a:ext cx="1645920" cy="502920"/>
          </a:xfrm>
          <a:prstGeom prst="rect">
            <a:avLst/>
          </a:prstGeom>
          <a:solidFill>
            <a:srgbClr val="FFFFFF"/>
          </a:solidFill>
          <a:ln w="6350">
            <a:solidFill>
              <a:srgbClr val="E2E8F0"/>
            </a:solidFill>
            <a:prstDash val="solid"/>
          </a:ln>
        </p:spPr>
      </p:sp>
      <p:sp>
        <p:nvSpPr>
          <p:cNvPr id="24" name="Text 22"/>
          <p:cNvSpPr/>
          <p:nvPr/>
        </p:nvSpPr>
        <p:spPr>
          <a:xfrm>
            <a:off x="6473952" y="2286000"/>
            <a:ext cx="1463040" cy="502920"/>
          </a:xfrm>
          <a:prstGeom prst="rect">
            <a:avLst/>
          </a:prstGeom>
          <a:noFill/>
          <a:ln/>
        </p:spPr>
        <p:txBody>
          <a:bodyPr wrap="square" lIns="0" tIns="0" rIns="0" bIns="0" rtlCol="0" anchor="ctr"/>
          <a:lstStyle/>
          <a:p>
            <a:pPr marL="0" indent="0" algn="ctr">
              <a:buNone/>
            </a:pPr>
            <a:r>
              <a:rPr lang="en-US" sz="1150" dirty="0">
                <a:solidFill>
                  <a:srgbClr val="1E293B"/>
                </a:solidFill>
                <a:latin typeface="Calibri" pitchFamily="34" charset="0"/>
                <a:ea typeface="Calibri" pitchFamily="34" charset="-122"/>
                <a:cs typeface="Calibri" pitchFamily="34" charset="-120"/>
              </a:rPr>
              <a:t>Hardware seul</a:t>
            </a:r>
            <a:endParaRPr lang="en-US" sz="1150" dirty="0"/>
          </a:p>
        </p:txBody>
      </p:sp>
      <p:sp>
        <p:nvSpPr>
          <p:cNvPr id="25" name="Shape 23"/>
          <p:cNvSpPr/>
          <p:nvPr/>
        </p:nvSpPr>
        <p:spPr>
          <a:xfrm>
            <a:off x="8028432" y="2286000"/>
            <a:ext cx="1463040" cy="502920"/>
          </a:xfrm>
          <a:prstGeom prst="rect">
            <a:avLst/>
          </a:prstGeom>
          <a:solidFill>
            <a:srgbClr val="FFFFFF"/>
          </a:solidFill>
          <a:ln w="6350">
            <a:solidFill>
              <a:srgbClr val="E2E8F0"/>
            </a:solidFill>
            <a:prstDash val="solid"/>
          </a:ln>
        </p:spPr>
      </p:sp>
      <p:sp>
        <p:nvSpPr>
          <p:cNvPr id="26" name="Text 24"/>
          <p:cNvSpPr/>
          <p:nvPr/>
        </p:nvSpPr>
        <p:spPr>
          <a:xfrm>
            <a:off x="8119872" y="2286000"/>
            <a:ext cx="1280160" cy="502920"/>
          </a:xfrm>
          <a:prstGeom prst="rect">
            <a:avLst/>
          </a:prstGeom>
          <a:noFill/>
          <a:ln/>
        </p:spPr>
        <p:txBody>
          <a:bodyPr wrap="square" lIns="0" tIns="0" rIns="0" bIns="0" rtlCol="0" anchor="ctr"/>
          <a:lstStyle/>
          <a:p>
            <a:pPr marL="0" indent="0" algn="ctr">
              <a:buNone/>
            </a:pPr>
            <a:r>
              <a:rPr lang="en-US" sz="1150" dirty="0">
                <a:solidFill>
                  <a:srgbClr val="EF4444"/>
                </a:solidFill>
                <a:latin typeface="Calibri" pitchFamily="34" charset="0"/>
                <a:ea typeface="Calibri" pitchFamily="34" charset="-122"/>
                <a:cs typeface="Calibri" pitchFamily="34" charset="-120"/>
              </a:rPr>
              <a:t>✗</a:t>
            </a:r>
            <a:endParaRPr lang="en-US" sz="1150" dirty="0"/>
          </a:p>
        </p:txBody>
      </p:sp>
      <p:sp>
        <p:nvSpPr>
          <p:cNvPr id="29" name="Shape 27"/>
          <p:cNvSpPr/>
          <p:nvPr/>
        </p:nvSpPr>
        <p:spPr>
          <a:xfrm>
            <a:off x="713232" y="2788920"/>
            <a:ext cx="2926080" cy="502920"/>
          </a:xfrm>
          <a:prstGeom prst="rect">
            <a:avLst/>
          </a:prstGeom>
          <a:solidFill>
            <a:srgbClr val="F1F5F9"/>
          </a:solidFill>
          <a:ln w="6350">
            <a:solidFill>
              <a:srgbClr val="E2E8F0"/>
            </a:solidFill>
            <a:prstDash val="solid"/>
          </a:ln>
        </p:spPr>
      </p:sp>
      <p:sp>
        <p:nvSpPr>
          <p:cNvPr id="30" name="Text 28"/>
          <p:cNvSpPr/>
          <p:nvPr/>
        </p:nvSpPr>
        <p:spPr>
          <a:xfrm>
            <a:off x="804672" y="2788920"/>
            <a:ext cx="2743200" cy="502920"/>
          </a:xfrm>
          <a:prstGeom prst="rect">
            <a:avLst/>
          </a:prstGeom>
          <a:noFill/>
          <a:ln/>
        </p:spPr>
        <p:txBody>
          <a:bodyPr wrap="square" lIns="0" tIns="0" rIns="0" bIns="0" rtlCol="0" anchor="ctr"/>
          <a:lstStyle/>
          <a:p>
            <a:pPr marL="0" indent="0" algn="l">
              <a:buNone/>
            </a:pPr>
            <a:r>
              <a:rPr lang="en-US" sz="1100" b="1" dirty="0">
                <a:solidFill>
                  <a:srgbClr val="1E293B"/>
                </a:solidFill>
                <a:latin typeface="Calibri" pitchFamily="34" charset="0"/>
                <a:ea typeface="Calibri" pitchFamily="34" charset="-122"/>
                <a:cs typeface="Calibri" pitchFamily="34" charset="-120"/>
              </a:rPr>
              <a:t>Litchi / Autopilot</a:t>
            </a:r>
            <a:endParaRPr lang="en-US" sz="1100" dirty="0"/>
          </a:p>
        </p:txBody>
      </p:sp>
      <p:sp>
        <p:nvSpPr>
          <p:cNvPr id="31" name="Shape 29"/>
          <p:cNvSpPr/>
          <p:nvPr/>
        </p:nvSpPr>
        <p:spPr>
          <a:xfrm>
            <a:off x="3639312" y="2788920"/>
            <a:ext cx="1371600" cy="502920"/>
          </a:xfrm>
          <a:prstGeom prst="rect">
            <a:avLst/>
          </a:prstGeom>
          <a:solidFill>
            <a:srgbClr val="F1F5F9"/>
          </a:solidFill>
          <a:ln w="6350">
            <a:solidFill>
              <a:srgbClr val="E2E8F0"/>
            </a:solidFill>
            <a:prstDash val="solid"/>
          </a:ln>
        </p:spPr>
      </p:sp>
      <p:sp>
        <p:nvSpPr>
          <p:cNvPr id="32" name="Text 30"/>
          <p:cNvSpPr/>
          <p:nvPr/>
        </p:nvSpPr>
        <p:spPr>
          <a:xfrm>
            <a:off x="3730752" y="2788920"/>
            <a:ext cx="1188720" cy="502920"/>
          </a:xfrm>
          <a:prstGeom prst="rect">
            <a:avLst/>
          </a:prstGeom>
          <a:noFill/>
          <a:ln/>
        </p:spPr>
        <p:txBody>
          <a:bodyPr wrap="square" lIns="0" tIns="0" rIns="0" bIns="0" rtlCol="0" anchor="ctr"/>
          <a:lstStyle/>
          <a:p>
            <a:pPr marL="0" indent="0" algn="ctr">
              <a:buNone/>
            </a:pPr>
            <a:r>
              <a:rPr lang="en-US" sz="1150" dirty="0">
                <a:solidFill>
                  <a:srgbClr val="EF4444"/>
                </a:solidFill>
                <a:latin typeface="Calibri" pitchFamily="34" charset="0"/>
                <a:ea typeface="Calibri" pitchFamily="34" charset="-122"/>
                <a:cs typeface="Calibri" pitchFamily="34" charset="-120"/>
              </a:rPr>
              <a:t>✗</a:t>
            </a:r>
            <a:endParaRPr lang="en-US" sz="1150" dirty="0"/>
          </a:p>
        </p:txBody>
      </p:sp>
      <p:sp>
        <p:nvSpPr>
          <p:cNvPr id="33" name="Shape 31"/>
          <p:cNvSpPr/>
          <p:nvPr/>
        </p:nvSpPr>
        <p:spPr>
          <a:xfrm>
            <a:off x="5010912" y="2788920"/>
            <a:ext cx="1371600" cy="502920"/>
          </a:xfrm>
          <a:prstGeom prst="rect">
            <a:avLst/>
          </a:prstGeom>
          <a:solidFill>
            <a:srgbClr val="F1F5F9"/>
          </a:solidFill>
          <a:ln w="6350">
            <a:solidFill>
              <a:srgbClr val="E2E8F0"/>
            </a:solidFill>
            <a:prstDash val="solid"/>
          </a:ln>
        </p:spPr>
      </p:sp>
      <p:sp>
        <p:nvSpPr>
          <p:cNvPr id="34" name="Text 32"/>
          <p:cNvSpPr/>
          <p:nvPr/>
        </p:nvSpPr>
        <p:spPr>
          <a:xfrm>
            <a:off x="5102352" y="2788920"/>
            <a:ext cx="1188720" cy="502920"/>
          </a:xfrm>
          <a:prstGeom prst="rect">
            <a:avLst/>
          </a:prstGeom>
          <a:noFill/>
          <a:ln/>
        </p:spPr>
        <p:txBody>
          <a:bodyPr wrap="square" lIns="0" tIns="0" rIns="0" bIns="0" rtlCol="0" anchor="ctr"/>
          <a:lstStyle/>
          <a:p>
            <a:pPr marL="0" indent="0" algn="ctr">
              <a:buNone/>
            </a:pPr>
            <a:r>
              <a:rPr lang="en-US" sz="1150" dirty="0">
                <a:solidFill>
                  <a:srgbClr val="EF4444"/>
                </a:solidFill>
                <a:latin typeface="Calibri" pitchFamily="34" charset="0"/>
                <a:ea typeface="Calibri" pitchFamily="34" charset="-122"/>
                <a:cs typeface="Calibri" pitchFamily="34" charset="-120"/>
              </a:rPr>
              <a:t>✗</a:t>
            </a:r>
            <a:endParaRPr lang="en-US" sz="1150" dirty="0"/>
          </a:p>
        </p:txBody>
      </p:sp>
      <p:sp>
        <p:nvSpPr>
          <p:cNvPr id="35" name="Shape 33"/>
          <p:cNvSpPr/>
          <p:nvPr/>
        </p:nvSpPr>
        <p:spPr>
          <a:xfrm>
            <a:off x="6382512" y="2788920"/>
            <a:ext cx="1645920" cy="502920"/>
          </a:xfrm>
          <a:prstGeom prst="rect">
            <a:avLst/>
          </a:prstGeom>
          <a:solidFill>
            <a:srgbClr val="F1F5F9"/>
          </a:solidFill>
          <a:ln w="6350">
            <a:solidFill>
              <a:srgbClr val="E2E8F0"/>
            </a:solidFill>
            <a:prstDash val="solid"/>
          </a:ln>
        </p:spPr>
      </p:sp>
      <p:sp>
        <p:nvSpPr>
          <p:cNvPr id="36" name="Text 34"/>
          <p:cNvSpPr/>
          <p:nvPr/>
        </p:nvSpPr>
        <p:spPr>
          <a:xfrm>
            <a:off x="6473952" y="2788920"/>
            <a:ext cx="1463040" cy="502920"/>
          </a:xfrm>
          <a:prstGeom prst="rect">
            <a:avLst/>
          </a:prstGeom>
          <a:noFill/>
          <a:ln/>
        </p:spPr>
        <p:txBody>
          <a:bodyPr wrap="square" lIns="0" tIns="0" rIns="0" bIns="0" rtlCol="0" anchor="ctr"/>
          <a:lstStyle/>
          <a:p>
            <a:pPr marL="0" indent="0" algn="ctr">
              <a:buNone/>
            </a:pPr>
            <a:r>
              <a:rPr lang="en-US" sz="1150" dirty="0">
                <a:solidFill>
                  <a:srgbClr val="EF4444"/>
                </a:solidFill>
                <a:latin typeface="Calibri" pitchFamily="34" charset="0"/>
                <a:ea typeface="Calibri" pitchFamily="34" charset="-122"/>
                <a:cs typeface="Calibri" pitchFamily="34" charset="-120"/>
              </a:rPr>
              <a:t>✗</a:t>
            </a:r>
            <a:endParaRPr lang="en-US" sz="1150" dirty="0"/>
          </a:p>
        </p:txBody>
      </p:sp>
      <p:sp>
        <p:nvSpPr>
          <p:cNvPr id="37" name="Shape 35"/>
          <p:cNvSpPr/>
          <p:nvPr/>
        </p:nvSpPr>
        <p:spPr>
          <a:xfrm>
            <a:off x="8028432" y="2788920"/>
            <a:ext cx="1463040" cy="502920"/>
          </a:xfrm>
          <a:prstGeom prst="rect">
            <a:avLst/>
          </a:prstGeom>
          <a:solidFill>
            <a:srgbClr val="F1F5F9"/>
          </a:solidFill>
          <a:ln w="6350">
            <a:solidFill>
              <a:srgbClr val="E2E8F0"/>
            </a:solidFill>
            <a:prstDash val="solid"/>
          </a:ln>
        </p:spPr>
      </p:sp>
      <p:sp>
        <p:nvSpPr>
          <p:cNvPr id="38" name="Text 36"/>
          <p:cNvSpPr/>
          <p:nvPr/>
        </p:nvSpPr>
        <p:spPr>
          <a:xfrm>
            <a:off x="8119872" y="2788920"/>
            <a:ext cx="1280160" cy="502920"/>
          </a:xfrm>
          <a:prstGeom prst="rect">
            <a:avLst/>
          </a:prstGeom>
          <a:noFill/>
          <a:ln/>
        </p:spPr>
        <p:txBody>
          <a:bodyPr wrap="square" lIns="0" tIns="0" rIns="0" bIns="0" rtlCol="0" anchor="ctr"/>
          <a:lstStyle/>
          <a:p>
            <a:pPr marL="0" indent="0" algn="ctr">
              <a:buNone/>
            </a:pPr>
            <a:r>
              <a:rPr lang="en-US" sz="1150" dirty="0">
                <a:solidFill>
                  <a:srgbClr val="EF4444"/>
                </a:solidFill>
                <a:latin typeface="Calibri" pitchFamily="34" charset="0"/>
                <a:ea typeface="Calibri" pitchFamily="34" charset="-122"/>
                <a:cs typeface="Calibri" pitchFamily="34" charset="-120"/>
              </a:rPr>
              <a:t>✗</a:t>
            </a:r>
            <a:endParaRPr lang="en-US" sz="1150" dirty="0"/>
          </a:p>
        </p:txBody>
      </p:sp>
      <p:sp>
        <p:nvSpPr>
          <p:cNvPr id="41" name="Shape 39"/>
          <p:cNvSpPr/>
          <p:nvPr/>
        </p:nvSpPr>
        <p:spPr>
          <a:xfrm>
            <a:off x="713232" y="3291840"/>
            <a:ext cx="2926080" cy="502920"/>
          </a:xfrm>
          <a:prstGeom prst="rect">
            <a:avLst/>
          </a:prstGeom>
          <a:solidFill>
            <a:srgbClr val="FFFFFF"/>
          </a:solidFill>
          <a:ln w="6350">
            <a:solidFill>
              <a:srgbClr val="E2E8F0"/>
            </a:solidFill>
            <a:prstDash val="solid"/>
          </a:ln>
        </p:spPr>
      </p:sp>
      <p:sp>
        <p:nvSpPr>
          <p:cNvPr id="42" name="Text 40"/>
          <p:cNvSpPr/>
          <p:nvPr/>
        </p:nvSpPr>
        <p:spPr>
          <a:xfrm>
            <a:off x="804672" y="3291840"/>
            <a:ext cx="2743200" cy="502920"/>
          </a:xfrm>
          <a:prstGeom prst="rect">
            <a:avLst/>
          </a:prstGeom>
          <a:noFill/>
          <a:ln/>
        </p:spPr>
        <p:txBody>
          <a:bodyPr wrap="square" lIns="0" tIns="0" rIns="0" bIns="0" rtlCol="0" anchor="ctr"/>
          <a:lstStyle/>
          <a:p>
            <a:pPr marL="0" indent="0" algn="l">
              <a:buNone/>
            </a:pPr>
            <a:r>
              <a:rPr lang="en-US" sz="1100" b="1" dirty="0">
                <a:solidFill>
                  <a:srgbClr val="1E293B"/>
                </a:solidFill>
                <a:latin typeface="Calibri" pitchFamily="34" charset="0"/>
                <a:ea typeface="Calibri" pitchFamily="34" charset="-122"/>
                <a:cs typeface="Calibri" pitchFamily="34" charset="-120"/>
              </a:rPr>
              <a:t>DJI SDK + dev custom</a:t>
            </a:r>
            <a:endParaRPr lang="en-US" sz="1100" dirty="0"/>
          </a:p>
        </p:txBody>
      </p:sp>
      <p:sp>
        <p:nvSpPr>
          <p:cNvPr id="43" name="Shape 41"/>
          <p:cNvSpPr/>
          <p:nvPr/>
        </p:nvSpPr>
        <p:spPr>
          <a:xfrm>
            <a:off x="3639312" y="3291840"/>
            <a:ext cx="1371600" cy="502920"/>
          </a:xfrm>
          <a:prstGeom prst="rect">
            <a:avLst/>
          </a:prstGeom>
          <a:solidFill>
            <a:srgbClr val="FFFFFF"/>
          </a:solidFill>
          <a:ln w="6350">
            <a:solidFill>
              <a:srgbClr val="E2E8F0"/>
            </a:solidFill>
            <a:prstDash val="solid"/>
          </a:ln>
        </p:spPr>
      </p:sp>
      <p:sp>
        <p:nvSpPr>
          <p:cNvPr id="44" name="Text 42"/>
          <p:cNvSpPr/>
          <p:nvPr/>
        </p:nvSpPr>
        <p:spPr>
          <a:xfrm>
            <a:off x="3730752" y="3291840"/>
            <a:ext cx="1188720" cy="502920"/>
          </a:xfrm>
          <a:prstGeom prst="rect">
            <a:avLst/>
          </a:prstGeom>
          <a:noFill/>
          <a:ln/>
        </p:spPr>
        <p:txBody>
          <a:bodyPr wrap="square" lIns="0" tIns="0" rIns="0" bIns="0" rtlCol="0" anchor="ctr"/>
          <a:lstStyle/>
          <a:p>
            <a:pPr marL="0" indent="0" algn="ctr">
              <a:buNone/>
            </a:pPr>
            <a:r>
              <a:rPr lang="en-US" sz="1150" dirty="0">
                <a:solidFill>
                  <a:srgbClr val="1E293B"/>
                </a:solidFill>
                <a:latin typeface="Calibri" pitchFamily="34" charset="0"/>
                <a:ea typeface="Calibri" pitchFamily="34" charset="-122"/>
                <a:cs typeface="Calibri" pitchFamily="34" charset="-120"/>
              </a:rPr>
              <a:t>À coder</a:t>
            </a:r>
            <a:endParaRPr lang="en-US" sz="1150" dirty="0"/>
          </a:p>
        </p:txBody>
      </p:sp>
      <p:sp>
        <p:nvSpPr>
          <p:cNvPr id="45" name="Shape 43"/>
          <p:cNvSpPr/>
          <p:nvPr/>
        </p:nvSpPr>
        <p:spPr>
          <a:xfrm>
            <a:off x="5010912" y="3291840"/>
            <a:ext cx="1371600" cy="502920"/>
          </a:xfrm>
          <a:prstGeom prst="rect">
            <a:avLst/>
          </a:prstGeom>
          <a:solidFill>
            <a:srgbClr val="FFFFFF"/>
          </a:solidFill>
          <a:ln w="6350">
            <a:solidFill>
              <a:srgbClr val="E2E8F0"/>
            </a:solidFill>
            <a:prstDash val="solid"/>
          </a:ln>
        </p:spPr>
      </p:sp>
      <p:sp>
        <p:nvSpPr>
          <p:cNvPr id="46" name="Text 44"/>
          <p:cNvSpPr/>
          <p:nvPr/>
        </p:nvSpPr>
        <p:spPr>
          <a:xfrm>
            <a:off x="5102352" y="3291840"/>
            <a:ext cx="1188720" cy="502920"/>
          </a:xfrm>
          <a:prstGeom prst="rect">
            <a:avLst/>
          </a:prstGeom>
          <a:noFill/>
          <a:ln/>
        </p:spPr>
        <p:txBody>
          <a:bodyPr wrap="square" lIns="0" tIns="0" rIns="0" bIns="0" rtlCol="0" anchor="ctr"/>
          <a:lstStyle/>
          <a:p>
            <a:pPr marL="0" indent="0" algn="ctr">
              <a:buNone/>
            </a:pPr>
            <a:r>
              <a:rPr lang="en-US" sz="1150" dirty="0">
                <a:solidFill>
                  <a:srgbClr val="1E293B"/>
                </a:solidFill>
                <a:latin typeface="Calibri" pitchFamily="34" charset="0"/>
                <a:ea typeface="Calibri" pitchFamily="34" charset="-122"/>
                <a:cs typeface="Calibri" pitchFamily="34" charset="-120"/>
              </a:rPr>
              <a:t>À coder</a:t>
            </a:r>
            <a:endParaRPr lang="en-US" sz="1150" dirty="0"/>
          </a:p>
        </p:txBody>
      </p:sp>
      <p:sp>
        <p:nvSpPr>
          <p:cNvPr id="47" name="Shape 45"/>
          <p:cNvSpPr/>
          <p:nvPr/>
        </p:nvSpPr>
        <p:spPr>
          <a:xfrm>
            <a:off x="6382512" y="3291840"/>
            <a:ext cx="1645920" cy="502920"/>
          </a:xfrm>
          <a:prstGeom prst="rect">
            <a:avLst/>
          </a:prstGeom>
          <a:solidFill>
            <a:srgbClr val="FFFFFF"/>
          </a:solidFill>
          <a:ln w="6350">
            <a:solidFill>
              <a:srgbClr val="E2E8F0"/>
            </a:solidFill>
            <a:prstDash val="solid"/>
          </a:ln>
        </p:spPr>
      </p:sp>
      <p:sp>
        <p:nvSpPr>
          <p:cNvPr id="48" name="Text 46"/>
          <p:cNvSpPr/>
          <p:nvPr/>
        </p:nvSpPr>
        <p:spPr>
          <a:xfrm>
            <a:off x="6473952" y="3291840"/>
            <a:ext cx="1463040" cy="502920"/>
          </a:xfrm>
          <a:prstGeom prst="rect">
            <a:avLst/>
          </a:prstGeom>
          <a:noFill/>
          <a:ln/>
        </p:spPr>
        <p:txBody>
          <a:bodyPr wrap="square" lIns="0" tIns="0" rIns="0" bIns="0" rtlCol="0" anchor="ctr"/>
          <a:lstStyle/>
          <a:p>
            <a:pPr marL="0" indent="0" algn="ctr">
              <a:buNone/>
            </a:pPr>
            <a:r>
              <a:rPr lang="en-US" sz="1150" dirty="0">
                <a:solidFill>
                  <a:srgbClr val="1E293B"/>
                </a:solidFill>
                <a:latin typeface="Calibri" pitchFamily="34" charset="0"/>
                <a:ea typeface="Calibri" pitchFamily="34" charset="-122"/>
                <a:cs typeface="Calibri" pitchFamily="34" charset="-120"/>
              </a:rPr>
              <a:t>À coder</a:t>
            </a:r>
            <a:endParaRPr lang="en-US" sz="1150" dirty="0"/>
          </a:p>
        </p:txBody>
      </p:sp>
      <p:sp>
        <p:nvSpPr>
          <p:cNvPr id="49" name="Shape 47"/>
          <p:cNvSpPr/>
          <p:nvPr/>
        </p:nvSpPr>
        <p:spPr>
          <a:xfrm>
            <a:off x="8028432" y="3291840"/>
            <a:ext cx="1463040" cy="502920"/>
          </a:xfrm>
          <a:prstGeom prst="rect">
            <a:avLst/>
          </a:prstGeom>
          <a:solidFill>
            <a:srgbClr val="FFFFFF"/>
          </a:solidFill>
          <a:ln w="6350">
            <a:solidFill>
              <a:srgbClr val="E2E8F0"/>
            </a:solidFill>
            <a:prstDash val="solid"/>
          </a:ln>
        </p:spPr>
      </p:sp>
      <p:sp>
        <p:nvSpPr>
          <p:cNvPr id="50" name="Text 48"/>
          <p:cNvSpPr/>
          <p:nvPr/>
        </p:nvSpPr>
        <p:spPr>
          <a:xfrm>
            <a:off x="8119872" y="3291840"/>
            <a:ext cx="1280160" cy="502920"/>
          </a:xfrm>
          <a:prstGeom prst="rect">
            <a:avLst/>
          </a:prstGeom>
          <a:noFill/>
          <a:ln/>
        </p:spPr>
        <p:txBody>
          <a:bodyPr wrap="square" lIns="0" tIns="0" rIns="0" bIns="0" rtlCol="0" anchor="ctr"/>
          <a:lstStyle/>
          <a:p>
            <a:pPr marL="0" indent="0" algn="ctr">
              <a:buNone/>
            </a:pPr>
            <a:r>
              <a:rPr lang="en-US" sz="1150" dirty="0">
                <a:solidFill>
                  <a:srgbClr val="1E293B"/>
                </a:solidFill>
                <a:latin typeface="Calibri" pitchFamily="34" charset="0"/>
                <a:ea typeface="Calibri" pitchFamily="34" charset="-122"/>
                <a:cs typeface="Calibri" pitchFamily="34" charset="-120"/>
              </a:rPr>
              <a:t>Partiel</a:t>
            </a:r>
            <a:endParaRPr lang="en-US" sz="1150" dirty="0"/>
          </a:p>
        </p:txBody>
      </p:sp>
      <p:sp>
        <p:nvSpPr>
          <p:cNvPr id="53" name="Shape 51"/>
          <p:cNvSpPr/>
          <p:nvPr/>
        </p:nvSpPr>
        <p:spPr>
          <a:xfrm>
            <a:off x="713232" y="3794760"/>
            <a:ext cx="2926080" cy="502920"/>
          </a:xfrm>
          <a:prstGeom prst="rect">
            <a:avLst/>
          </a:prstGeom>
          <a:solidFill>
            <a:srgbClr val="F1F5F9"/>
          </a:solidFill>
          <a:ln w="6350">
            <a:solidFill>
              <a:srgbClr val="E2E8F0"/>
            </a:solidFill>
            <a:prstDash val="solid"/>
          </a:ln>
        </p:spPr>
      </p:sp>
      <p:sp>
        <p:nvSpPr>
          <p:cNvPr id="54" name="Text 52"/>
          <p:cNvSpPr/>
          <p:nvPr/>
        </p:nvSpPr>
        <p:spPr>
          <a:xfrm>
            <a:off x="804672" y="3794760"/>
            <a:ext cx="2743200" cy="502920"/>
          </a:xfrm>
          <a:prstGeom prst="rect">
            <a:avLst/>
          </a:prstGeom>
          <a:noFill/>
          <a:ln/>
        </p:spPr>
        <p:txBody>
          <a:bodyPr wrap="square" lIns="0" tIns="0" rIns="0" bIns="0" rtlCol="0" anchor="ctr"/>
          <a:lstStyle/>
          <a:p>
            <a:pPr marL="0" indent="0" algn="l">
              <a:buNone/>
            </a:pPr>
            <a:r>
              <a:rPr lang="en-US" sz="1100" b="1" dirty="0">
                <a:solidFill>
                  <a:srgbClr val="1E293B"/>
                </a:solidFill>
                <a:latin typeface="Calibri" pitchFamily="34" charset="0"/>
                <a:ea typeface="Calibri" pitchFamily="34" charset="-122"/>
                <a:cs typeface="Calibri" pitchFamily="34" charset="-120"/>
              </a:rPr>
              <a:t>ROS + PX4 + YOLO</a:t>
            </a:r>
            <a:endParaRPr lang="en-US" sz="1100" dirty="0"/>
          </a:p>
        </p:txBody>
      </p:sp>
      <p:sp>
        <p:nvSpPr>
          <p:cNvPr id="55" name="Shape 53"/>
          <p:cNvSpPr/>
          <p:nvPr/>
        </p:nvSpPr>
        <p:spPr>
          <a:xfrm>
            <a:off x="3639312" y="3794760"/>
            <a:ext cx="1371600" cy="502920"/>
          </a:xfrm>
          <a:prstGeom prst="rect">
            <a:avLst/>
          </a:prstGeom>
          <a:solidFill>
            <a:srgbClr val="F1F5F9"/>
          </a:solidFill>
          <a:ln w="6350">
            <a:solidFill>
              <a:srgbClr val="E2E8F0"/>
            </a:solidFill>
            <a:prstDash val="solid"/>
          </a:ln>
        </p:spPr>
      </p:sp>
      <p:sp>
        <p:nvSpPr>
          <p:cNvPr id="56" name="Text 54"/>
          <p:cNvSpPr/>
          <p:nvPr/>
        </p:nvSpPr>
        <p:spPr>
          <a:xfrm>
            <a:off x="3730752" y="3794760"/>
            <a:ext cx="1188720" cy="502920"/>
          </a:xfrm>
          <a:prstGeom prst="rect">
            <a:avLst/>
          </a:prstGeom>
          <a:noFill/>
          <a:ln/>
        </p:spPr>
        <p:txBody>
          <a:bodyPr wrap="square" lIns="0" tIns="0" rIns="0" bIns="0" rtlCol="0" anchor="ctr"/>
          <a:lstStyle/>
          <a:p>
            <a:pPr marL="0" indent="0" algn="ctr">
              <a:buNone/>
            </a:pPr>
            <a:r>
              <a:rPr lang="en-US" sz="1150" dirty="0">
                <a:solidFill>
                  <a:srgbClr val="EF4444"/>
                </a:solidFill>
                <a:latin typeface="Calibri" pitchFamily="34" charset="0"/>
                <a:ea typeface="Calibri" pitchFamily="34" charset="-122"/>
                <a:cs typeface="Calibri" pitchFamily="34" charset="-120"/>
              </a:rPr>
              <a:t>✗</a:t>
            </a:r>
            <a:endParaRPr lang="en-US" sz="1150" dirty="0"/>
          </a:p>
        </p:txBody>
      </p:sp>
      <p:sp>
        <p:nvSpPr>
          <p:cNvPr id="57" name="Shape 55"/>
          <p:cNvSpPr/>
          <p:nvPr/>
        </p:nvSpPr>
        <p:spPr>
          <a:xfrm>
            <a:off x="5010912" y="3794760"/>
            <a:ext cx="1371600" cy="502920"/>
          </a:xfrm>
          <a:prstGeom prst="rect">
            <a:avLst/>
          </a:prstGeom>
          <a:solidFill>
            <a:srgbClr val="F1F5F9"/>
          </a:solidFill>
          <a:ln w="6350">
            <a:solidFill>
              <a:srgbClr val="E2E8F0"/>
            </a:solidFill>
            <a:prstDash val="solid"/>
          </a:ln>
        </p:spPr>
      </p:sp>
      <p:sp>
        <p:nvSpPr>
          <p:cNvPr id="58" name="Text 56"/>
          <p:cNvSpPr/>
          <p:nvPr/>
        </p:nvSpPr>
        <p:spPr>
          <a:xfrm>
            <a:off x="5102352" y="3794760"/>
            <a:ext cx="1188720" cy="502920"/>
          </a:xfrm>
          <a:prstGeom prst="rect">
            <a:avLst/>
          </a:prstGeom>
          <a:noFill/>
          <a:ln/>
        </p:spPr>
        <p:txBody>
          <a:bodyPr wrap="square" lIns="0" tIns="0" rIns="0" bIns="0" rtlCol="0" anchor="ctr"/>
          <a:lstStyle/>
          <a:p>
            <a:pPr marL="0" indent="0" algn="ctr">
              <a:buNone/>
            </a:pPr>
            <a:r>
              <a:rPr lang="en-US" sz="1150" dirty="0">
                <a:solidFill>
                  <a:srgbClr val="22C55E"/>
                </a:solidFill>
                <a:latin typeface="Calibri" pitchFamily="34" charset="0"/>
                <a:ea typeface="Calibri" pitchFamily="34" charset="-122"/>
                <a:cs typeface="Calibri" pitchFamily="34" charset="-120"/>
              </a:rPr>
              <a:t>✓</a:t>
            </a:r>
            <a:endParaRPr lang="en-US" sz="1150" dirty="0"/>
          </a:p>
        </p:txBody>
      </p:sp>
      <p:sp>
        <p:nvSpPr>
          <p:cNvPr id="59" name="Shape 57"/>
          <p:cNvSpPr/>
          <p:nvPr/>
        </p:nvSpPr>
        <p:spPr>
          <a:xfrm>
            <a:off x="6382512" y="3794760"/>
            <a:ext cx="1645920" cy="502920"/>
          </a:xfrm>
          <a:prstGeom prst="rect">
            <a:avLst/>
          </a:prstGeom>
          <a:solidFill>
            <a:srgbClr val="F1F5F9"/>
          </a:solidFill>
          <a:ln w="6350">
            <a:solidFill>
              <a:srgbClr val="E2E8F0"/>
            </a:solidFill>
            <a:prstDash val="solid"/>
          </a:ln>
        </p:spPr>
      </p:sp>
      <p:sp>
        <p:nvSpPr>
          <p:cNvPr id="60" name="Text 58"/>
          <p:cNvSpPr/>
          <p:nvPr/>
        </p:nvSpPr>
        <p:spPr>
          <a:xfrm>
            <a:off x="6473952" y="3794760"/>
            <a:ext cx="1463040" cy="502920"/>
          </a:xfrm>
          <a:prstGeom prst="rect">
            <a:avLst/>
          </a:prstGeom>
          <a:noFill/>
          <a:ln/>
        </p:spPr>
        <p:txBody>
          <a:bodyPr wrap="square" lIns="0" tIns="0" rIns="0" bIns="0" rtlCol="0" anchor="ctr"/>
          <a:lstStyle/>
          <a:p>
            <a:pPr marL="0" indent="0" algn="ctr">
              <a:buNone/>
            </a:pPr>
            <a:r>
              <a:rPr lang="en-US" sz="1150" dirty="0">
                <a:solidFill>
                  <a:srgbClr val="22C55E"/>
                </a:solidFill>
                <a:latin typeface="Calibri" pitchFamily="34" charset="0"/>
                <a:ea typeface="Calibri" pitchFamily="34" charset="-122"/>
                <a:cs typeface="Calibri" pitchFamily="34" charset="-120"/>
              </a:rPr>
              <a:t>✓</a:t>
            </a:r>
            <a:endParaRPr lang="en-US" sz="1150" dirty="0"/>
          </a:p>
        </p:txBody>
      </p:sp>
      <p:sp>
        <p:nvSpPr>
          <p:cNvPr id="61" name="Shape 59"/>
          <p:cNvSpPr/>
          <p:nvPr/>
        </p:nvSpPr>
        <p:spPr>
          <a:xfrm>
            <a:off x="8028432" y="3794760"/>
            <a:ext cx="1463040" cy="502920"/>
          </a:xfrm>
          <a:prstGeom prst="rect">
            <a:avLst/>
          </a:prstGeom>
          <a:solidFill>
            <a:srgbClr val="F1F5F9"/>
          </a:solidFill>
          <a:ln w="6350">
            <a:solidFill>
              <a:srgbClr val="E2E8F0"/>
            </a:solidFill>
            <a:prstDash val="solid"/>
          </a:ln>
        </p:spPr>
      </p:sp>
      <p:sp>
        <p:nvSpPr>
          <p:cNvPr id="62" name="Text 60"/>
          <p:cNvSpPr/>
          <p:nvPr/>
        </p:nvSpPr>
        <p:spPr>
          <a:xfrm>
            <a:off x="8119872" y="3794760"/>
            <a:ext cx="1280160" cy="502920"/>
          </a:xfrm>
          <a:prstGeom prst="rect">
            <a:avLst/>
          </a:prstGeom>
          <a:noFill/>
          <a:ln/>
        </p:spPr>
        <p:txBody>
          <a:bodyPr wrap="square" lIns="0" tIns="0" rIns="0" bIns="0" rtlCol="0" anchor="ctr"/>
          <a:lstStyle/>
          <a:p>
            <a:pPr marL="0" indent="0" algn="ctr">
              <a:buNone/>
            </a:pPr>
            <a:r>
              <a:rPr lang="en-US" sz="1150" dirty="0">
                <a:solidFill>
                  <a:srgbClr val="22C55E"/>
                </a:solidFill>
                <a:latin typeface="Calibri" pitchFamily="34" charset="0"/>
                <a:ea typeface="Calibri" pitchFamily="34" charset="-122"/>
                <a:cs typeface="Calibri" pitchFamily="34" charset="-120"/>
              </a:rPr>
              <a:t>✓</a:t>
            </a:r>
            <a:endParaRPr lang="en-US" sz="1150" dirty="0"/>
          </a:p>
        </p:txBody>
      </p:sp>
      <p:sp>
        <p:nvSpPr>
          <p:cNvPr id="66" name="Text 64"/>
          <p:cNvSpPr/>
          <p:nvPr/>
        </p:nvSpPr>
        <p:spPr>
          <a:xfrm>
            <a:off x="804672" y="4297680"/>
            <a:ext cx="2743200" cy="502920"/>
          </a:xfrm>
          <a:prstGeom prst="rect">
            <a:avLst/>
          </a:prstGeom>
          <a:noFill/>
          <a:ln/>
        </p:spPr>
        <p:txBody>
          <a:bodyPr wrap="square" lIns="0" tIns="0" rIns="0" bIns="0" rtlCol="0" anchor="ctr"/>
          <a:lstStyle/>
          <a:p>
            <a:pPr marL="0" indent="0" algn="l">
              <a:buNone/>
            </a:pPr>
            <a:endParaRPr lang="en-US" sz="1100" dirty="0"/>
          </a:p>
        </p:txBody>
      </p:sp>
      <p:sp>
        <p:nvSpPr>
          <p:cNvPr id="68" name="Text 66"/>
          <p:cNvSpPr/>
          <p:nvPr/>
        </p:nvSpPr>
        <p:spPr>
          <a:xfrm>
            <a:off x="3730752" y="4297680"/>
            <a:ext cx="1188720" cy="502920"/>
          </a:xfrm>
          <a:prstGeom prst="rect">
            <a:avLst/>
          </a:prstGeom>
          <a:noFill/>
          <a:ln/>
        </p:spPr>
        <p:txBody>
          <a:bodyPr wrap="square" lIns="0" tIns="0" rIns="0" bIns="0" rtlCol="0" anchor="ctr"/>
          <a:lstStyle/>
          <a:p>
            <a:pPr marL="0" indent="0" algn="ctr">
              <a:buNone/>
            </a:pPr>
            <a:endParaRPr lang="en-US" sz="1150" dirty="0"/>
          </a:p>
        </p:txBody>
      </p:sp>
      <p:sp>
        <p:nvSpPr>
          <p:cNvPr id="70" name="Text 68"/>
          <p:cNvSpPr/>
          <p:nvPr/>
        </p:nvSpPr>
        <p:spPr>
          <a:xfrm>
            <a:off x="5102352" y="4297680"/>
            <a:ext cx="1188720" cy="502920"/>
          </a:xfrm>
          <a:prstGeom prst="rect">
            <a:avLst/>
          </a:prstGeom>
          <a:noFill/>
          <a:ln/>
        </p:spPr>
        <p:txBody>
          <a:bodyPr wrap="square" lIns="0" tIns="0" rIns="0" bIns="0" rtlCol="0" anchor="ctr"/>
          <a:lstStyle/>
          <a:p>
            <a:pPr marL="0" indent="0" algn="ctr">
              <a:buNone/>
            </a:pPr>
            <a:endParaRPr lang="en-US" sz="1150" dirty="0"/>
          </a:p>
        </p:txBody>
      </p:sp>
      <p:sp>
        <p:nvSpPr>
          <p:cNvPr id="72" name="Text 70"/>
          <p:cNvSpPr/>
          <p:nvPr/>
        </p:nvSpPr>
        <p:spPr>
          <a:xfrm>
            <a:off x="6473952" y="4297680"/>
            <a:ext cx="1463040" cy="502920"/>
          </a:xfrm>
          <a:prstGeom prst="rect">
            <a:avLst/>
          </a:prstGeom>
          <a:noFill/>
          <a:ln/>
        </p:spPr>
        <p:txBody>
          <a:bodyPr wrap="square" lIns="0" tIns="0" rIns="0" bIns="0" rtlCol="0" anchor="ctr"/>
          <a:lstStyle/>
          <a:p>
            <a:pPr marL="0" indent="0" algn="ctr">
              <a:buNone/>
            </a:pPr>
            <a:endParaRPr lang="en-US" sz="1150" dirty="0"/>
          </a:p>
        </p:txBody>
      </p:sp>
      <p:sp>
        <p:nvSpPr>
          <p:cNvPr id="74" name="Text 72"/>
          <p:cNvSpPr/>
          <p:nvPr/>
        </p:nvSpPr>
        <p:spPr>
          <a:xfrm>
            <a:off x="8119872" y="4297680"/>
            <a:ext cx="1280160" cy="502920"/>
          </a:xfrm>
          <a:prstGeom prst="rect">
            <a:avLst/>
          </a:prstGeom>
          <a:noFill/>
          <a:ln/>
        </p:spPr>
        <p:txBody>
          <a:bodyPr wrap="square" lIns="0" tIns="0" rIns="0" bIns="0" rtlCol="0" anchor="ctr"/>
          <a:lstStyle/>
          <a:p>
            <a:pPr marL="0" indent="0" algn="ctr">
              <a:buNone/>
            </a:pPr>
            <a:endParaRPr lang="en-US" sz="1150" dirty="0"/>
          </a:p>
        </p:txBody>
      </p:sp>
      <p:sp>
        <p:nvSpPr>
          <p:cNvPr id="76" name="Text 74"/>
          <p:cNvSpPr/>
          <p:nvPr/>
        </p:nvSpPr>
        <p:spPr>
          <a:xfrm>
            <a:off x="9582912" y="4297680"/>
            <a:ext cx="1773936" cy="502920"/>
          </a:xfrm>
          <a:prstGeom prst="rect">
            <a:avLst/>
          </a:prstGeom>
          <a:noFill/>
          <a:ln/>
        </p:spPr>
        <p:txBody>
          <a:bodyPr wrap="square" lIns="0" tIns="0" rIns="0" bIns="0" rtlCol="0" anchor="ctr"/>
          <a:lstStyle/>
          <a:p>
            <a:pPr marL="0" indent="0" algn="ctr">
              <a:buNone/>
            </a:pPr>
            <a:endParaRPr lang="en-US" sz="1150" dirty="0"/>
          </a:p>
        </p:txBody>
      </p:sp>
      <p:sp>
        <p:nvSpPr>
          <p:cNvPr id="77" name="Shape 75"/>
          <p:cNvSpPr/>
          <p:nvPr/>
        </p:nvSpPr>
        <p:spPr>
          <a:xfrm>
            <a:off x="713232" y="5120640"/>
            <a:ext cx="10735056" cy="777240"/>
          </a:xfrm>
          <a:prstGeom prst="rect">
            <a:avLst/>
          </a:prstGeom>
          <a:solidFill>
            <a:srgbClr val="CFFAFE"/>
          </a:solidFill>
          <a:ln/>
        </p:spPr>
        <p:txBody>
          <a:bodyPr/>
          <a:lstStyle/>
          <a:p>
            <a:endParaRPr lang="en-US" dirty="0"/>
          </a:p>
        </p:txBody>
      </p:sp>
      <p:sp>
        <p:nvSpPr>
          <p:cNvPr id="78" name="Shape 76"/>
          <p:cNvSpPr/>
          <p:nvPr/>
        </p:nvSpPr>
        <p:spPr>
          <a:xfrm>
            <a:off x="713232" y="5120640"/>
            <a:ext cx="73152" cy="777240"/>
          </a:xfrm>
          <a:prstGeom prst="rect">
            <a:avLst/>
          </a:prstGeom>
          <a:solidFill>
            <a:srgbClr val="06B6D4"/>
          </a:solidFill>
          <a:ln/>
        </p:spPr>
      </p:sp>
      <p:sp>
        <p:nvSpPr>
          <p:cNvPr id="79" name="Shape 77"/>
          <p:cNvSpPr/>
          <p:nvPr/>
        </p:nvSpPr>
        <p:spPr>
          <a:xfrm>
            <a:off x="941832" y="5285232"/>
            <a:ext cx="457200" cy="457200"/>
          </a:xfrm>
          <a:prstGeom prst="rect">
            <a:avLst/>
          </a:prstGeom>
          <a:solidFill>
            <a:srgbClr val="FFFFFF"/>
          </a:solidFill>
          <a:ln/>
        </p:spPr>
      </p:sp>
      <p:pic>
        <p:nvPicPr>
          <p:cNvPr id="80" name="Image 0" descr="preencoded.png"/>
          <p:cNvPicPr>
            <a:picLocks noChangeAspect="1"/>
          </p:cNvPicPr>
          <p:nvPr/>
        </p:nvPicPr>
        <p:blipFill>
          <a:blip r:embed="rId3"/>
          <a:stretch>
            <a:fillRect/>
          </a:stretch>
        </p:blipFill>
        <p:spPr>
          <a:xfrm>
            <a:off x="1042416" y="5385816"/>
            <a:ext cx="256032" cy="256032"/>
          </a:xfrm>
          <a:prstGeom prst="rect">
            <a:avLst/>
          </a:prstGeom>
        </p:spPr>
      </p:pic>
      <p:sp>
        <p:nvSpPr>
          <p:cNvPr id="81" name="Text 78"/>
          <p:cNvSpPr/>
          <p:nvPr/>
        </p:nvSpPr>
        <p:spPr>
          <a:xfrm>
            <a:off x="1627632" y="5212080"/>
            <a:ext cx="9729216" cy="640080"/>
          </a:xfrm>
          <a:prstGeom prst="rect">
            <a:avLst/>
          </a:prstGeom>
          <a:noFill/>
          <a:ln/>
        </p:spPr>
        <p:txBody>
          <a:bodyPr wrap="square" lIns="0" tIns="0" rIns="0" bIns="0" rtlCol="0" anchor="ctr"/>
          <a:lstStyle/>
          <a:p>
            <a:pPr marL="0" indent="0">
              <a:buNone/>
            </a:pPr>
            <a:r>
              <a:rPr lang="en-US" sz="1300" dirty="0">
                <a:solidFill>
                  <a:srgbClr val="1E293B"/>
                </a:solidFill>
                <a:latin typeface="Calibri" pitchFamily="34" charset="0"/>
                <a:ea typeface="Calibri" pitchFamily="34" charset="-122"/>
                <a:cs typeface="Calibri" pitchFamily="34" charset="-120"/>
              </a:rPr>
              <a:t>Aucune solution n'offre aujourd'hui l'ensemble </a:t>
            </a:r>
            <a:r>
              <a:rPr lang="en-US" sz="1300" b="1" dirty="0">
                <a:solidFill>
                  <a:srgbClr val="1E1B4B"/>
                </a:solidFill>
                <a:latin typeface="Calibri" pitchFamily="34" charset="0"/>
                <a:ea typeface="Calibri" pitchFamily="34" charset="-122"/>
                <a:cs typeface="Calibri" pitchFamily="34" charset="-120"/>
              </a:rPr>
              <a:t>langage naturel + vision + évitement réactif + open source</a:t>
            </a:r>
            <a:r>
              <a:rPr lang="en-US" sz="1300" dirty="0">
                <a:solidFill>
                  <a:srgbClr val="1E293B"/>
                </a:solidFill>
                <a:latin typeface="Calibri" pitchFamily="34" charset="0"/>
                <a:ea typeface="Calibri" pitchFamily="34" charset="-122"/>
                <a:cs typeface="Calibri" pitchFamily="34" charset="-120"/>
              </a:rPr>
              <a:t> .</a:t>
            </a:r>
            <a:endParaRPr lang="en-US" sz="1300" dirty="0"/>
          </a:p>
        </p:txBody>
      </p:sp>
      <p:sp>
        <p:nvSpPr>
          <p:cNvPr id="82" name="Text 79"/>
          <p:cNvSpPr/>
          <p:nvPr/>
        </p:nvSpPr>
        <p:spPr>
          <a:xfrm>
            <a:off x="10881360" y="6473952"/>
            <a:ext cx="914400" cy="274320"/>
          </a:xfrm>
          <a:prstGeom prst="rect">
            <a:avLst/>
          </a:prstGeom>
          <a:noFill/>
          <a:ln/>
        </p:spPr>
        <p:txBody>
          <a:bodyPr wrap="square" lIns="0" tIns="0" rIns="0" bIns="0" rtlCol="0" anchor="ctr"/>
          <a:lstStyle/>
          <a:p>
            <a:pPr marL="0" indent="0" algn="r">
              <a:buNone/>
            </a:pPr>
            <a:r>
              <a:rPr lang="en-US" sz="900" kern="0" spc="400" dirty="0">
                <a:solidFill>
                  <a:srgbClr val="94A3B8"/>
                </a:solidFill>
                <a:latin typeface="Calibri" pitchFamily="34" charset="0"/>
                <a:ea typeface="Calibri" pitchFamily="34" charset="-122"/>
                <a:cs typeface="Calibri" pitchFamily="34" charset="-120"/>
              </a:rPr>
              <a:t>04 / 09</a:t>
            </a:r>
            <a:endParaRPr lang="en-US" sz="900" dirty="0"/>
          </a:p>
        </p:txBody>
      </p:sp>
      <p:sp>
        <p:nvSpPr>
          <p:cNvPr id="83" name="Text 80"/>
          <p:cNvSpPr/>
          <p:nvPr/>
        </p:nvSpPr>
        <p:spPr>
          <a:xfrm>
            <a:off x="457200" y="6473952"/>
            <a:ext cx="1828800" cy="274320"/>
          </a:xfrm>
          <a:prstGeom prst="rect">
            <a:avLst/>
          </a:prstGeom>
          <a:noFill/>
          <a:ln/>
        </p:spPr>
        <p:txBody>
          <a:bodyPr wrap="square" lIns="0" tIns="0" rIns="0" bIns="0" rtlCol="0" anchor="ctr"/>
          <a:lstStyle/>
          <a:p>
            <a:pPr marL="0" indent="0" algn="l">
              <a:buNone/>
            </a:pPr>
            <a:r>
              <a:rPr lang="en-US" sz="900" b="1" kern="0" spc="600" dirty="0">
                <a:solidFill>
                  <a:srgbClr val="4338CA"/>
                </a:solidFill>
                <a:latin typeface="Calibri" pitchFamily="34" charset="0"/>
                <a:ea typeface="Calibri" pitchFamily="34" charset="-122"/>
                <a:cs typeface="Calibri" pitchFamily="34" charset="-120"/>
              </a:rPr>
              <a:t>AI-R</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457200" y="502920"/>
            <a:ext cx="73152" cy="640080"/>
          </a:xfrm>
          <a:prstGeom prst="rect">
            <a:avLst/>
          </a:prstGeom>
          <a:solidFill>
            <a:srgbClr val="06B6D4"/>
          </a:solidFill>
          <a:ln/>
        </p:spPr>
      </p:sp>
      <p:sp>
        <p:nvSpPr>
          <p:cNvPr id="3" name="Text 1"/>
          <p:cNvSpPr/>
          <p:nvPr/>
        </p:nvSpPr>
        <p:spPr>
          <a:xfrm>
            <a:off x="713232" y="457200"/>
            <a:ext cx="10789920" cy="731520"/>
          </a:xfrm>
          <a:prstGeom prst="rect">
            <a:avLst/>
          </a:prstGeom>
          <a:noFill/>
          <a:ln/>
        </p:spPr>
        <p:txBody>
          <a:bodyPr wrap="square" lIns="0" tIns="0" rIns="0" bIns="0" rtlCol="0" anchor="ctr"/>
          <a:lstStyle/>
          <a:p>
            <a:pPr marL="0" indent="0" algn="l">
              <a:buNone/>
            </a:pPr>
            <a:r>
              <a:rPr lang="en-US" sz="3200" b="1" dirty="0">
                <a:solidFill>
                  <a:srgbClr val="1E293B"/>
                </a:solidFill>
                <a:latin typeface="Calibri" pitchFamily="34" charset="0"/>
                <a:ea typeface="Calibri" pitchFamily="34" charset="-122"/>
                <a:cs typeface="Calibri" pitchFamily="34" charset="-120"/>
              </a:rPr>
              <a:t>Notre Solution         AI-R</a:t>
            </a:r>
            <a:endParaRPr lang="en-US" sz="3200" dirty="0"/>
          </a:p>
        </p:txBody>
      </p:sp>
      <p:sp>
        <p:nvSpPr>
          <p:cNvPr id="4" name="Text 2"/>
          <p:cNvSpPr/>
          <p:nvPr/>
        </p:nvSpPr>
        <p:spPr>
          <a:xfrm>
            <a:off x="713232" y="1143000"/>
            <a:ext cx="9144000" cy="365760"/>
          </a:xfrm>
          <a:prstGeom prst="rect">
            <a:avLst/>
          </a:prstGeom>
          <a:noFill/>
          <a:ln/>
        </p:spPr>
        <p:txBody>
          <a:bodyPr wrap="square" lIns="0" tIns="0" rIns="0" bIns="0" rtlCol="0" anchor="ctr"/>
          <a:lstStyle/>
          <a:p>
            <a:pPr marL="0" indent="0">
              <a:buNone/>
            </a:pPr>
            <a:r>
              <a:rPr lang="en-US" sz="1300" kern="0" spc="400" dirty="0">
                <a:solidFill>
                  <a:srgbClr val="475569"/>
                </a:solidFill>
                <a:latin typeface="Calibri" pitchFamily="34" charset="0"/>
                <a:ea typeface="Calibri" pitchFamily="34" charset="-122"/>
                <a:cs typeface="Calibri" pitchFamily="34" charset="-120"/>
              </a:rPr>
              <a:t>04 · Une boucle perception ↔ décision ↔ action</a:t>
            </a:r>
            <a:endParaRPr lang="en-US" sz="1300" dirty="0"/>
          </a:p>
        </p:txBody>
      </p:sp>
      <p:sp>
        <p:nvSpPr>
          <p:cNvPr id="5" name="Shape 3"/>
          <p:cNvSpPr/>
          <p:nvPr/>
        </p:nvSpPr>
        <p:spPr>
          <a:xfrm>
            <a:off x="594360" y="1828800"/>
            <a:ext cx="2468880" cy="1463040"/>
          </a:xfrm>
          <a:prstGeom prst="rect">
            <a:avLst/>
          </a:prstGeom>
          <a:solidFill>
            <a:srgbClr val="FFFFFF"/>
          </a:solidFill>
          <a:ln w="12700">
            <a:solidFill>
              <a:srgbClr val="E2E8F0"/>
            </a:solidFill>
            <a:prstDash val="solid"/>
          </a:ln>
          <a:effectLst>
            <a:outerShdw blurRad="127000" dist="38100" dir="5400000" algn="bl" rotWithShape="0">
              <a:srgbClr val="0F172A">
                <a:alpha val="6000"/>
              </a:srgbClr>
            </a:outerShdw>
          </a:effectLst>
        </p:spPr>
      </p:sp>
      <p:sp>
        <p:nvSpPr>
          <p:cNvPr id="6" name="Shape 4"/>
          <p:cNvSpPr/>
          <p:nvPr/>
        </p:nvSpPr>
        <p:spPr>
          <a:xfrm>
            <a:off x="594360" y="1828800"/>
            <a:ext cx="2468880" cy="73152"/>
          </a:xfrm>
          <a:prstGeom prst="rect">
            <a:avLst/>
          </a:prstGeom>
          <a:solidFill>
            <a:srgbClr val="06B6D4"/>
          </a:solidFill>
          <a:ln/>
        </p:spPr>
      </p:sp>
      <p:sp>
        <p:nvSpPr>
          <p:cNvPr id="7" name="Shape 5"/>
          <p:cNvSpPr/>
          <p:nvPr/>
        </p:nvSpPr>
        <p:spPr>
          <a:xfrm>
            <a:off x="1440180" y="2057400"/>
            <a:ext cx="777240" cy="777240"/>
          </a:xfrm>
          <a:prstGeom prst="rect">
            <a:avLst/>
          </a:prstGeom>
          <a:solidFill>
            <a:srgbClr val="E0E7FF"/>
          </a:solidFill>
          <a:ln/>
        </p:spPr>
      </p:sp>
      <p:pic>
        <p:nvPicPr>
          <p:cNvPr id="8" name="Image 0" descr="preencoded.png"/>
          <p:cNvPicPr>
            <a:picLocks noChangeAspect="1"/>
          </p:cNvPicPr>
          <p:nvPr/>
        </p:nvPicPr>
        <p:blipFill>
          <a:blip r:embed="rId3"/>
          <a:stretch>
            <a:fillRect/>
          </a:stretch>
        </p:blipFill>
        <p:spPr>
          <a:xfrm>
            <a:off x="1611173" y="2228393"/>
            <a:ext cx="435254" cy="435254"/>
          </a:xfrm>
          <a:prstGeom prst="rect">
            <a:avLst/>
          </a:prstGeom>
        </p:spPr>
      </p:pic>
      <p:sp>
        <p:nvSpPr>
          <p:cNvPr id="9" name="Text 6"/>
          <p:cNvSpPr/>
          <p:nvPr/>
        </p:nvSpPr>
        <p:spPr>
          <a:xfrm>
            <a:off x="731520" y="2788920"/>
            <a:ext cx="2194560" cy="320040"/>
          </a:xfrm>
          <a:prstGeom prst="rect">
            <a:avLst/>
          </a:prstGeom>
          <a:noFill/>
          <a:ln/>
        </p:spPr>
        <p:txBody>
          <a:bodyPr wrap="square" lIns="0" tIns="0" rIns="0" bIns="0" rtlCol="0" anchor="ctr"/>
          <a:lstStyle/>
          <a:p>
            <a:pPr marL="0" indent="0" algn="ctr">
              <a:buNone/>
            </a:pPr>
            <a:r>
              <a:rPr lang="en-US" sz="1400" b="1" dirty="0">
                <a:solidFill>
                  <a:srgbClr val="1E293B"/>
                </a:solidFill>
                <a:latin typeface="Calibri" pitchFamily="34" charset="0"/>
                <a:ea typeface="Calibri" pitchFamily="34" charset="-122"/>
                <a:cs typeface="Calibri" pitchFamily="34" charset="-120"/>
              </a:rPr>
              <a:t>1 · Voix → Texte</a:t>
            </a:r>
            <a:endParaRPr lang="en-US" sz="1400" dirty="0"/>
          </a:p>
        </p:txBody>
      </p:sp>
      <p:sp>
        <p:nvSpPr>
          <p:cNvPr id="10" name="Text 7"/>
          <p:cNvSpPr/>
          <p:nvPr/>
        </p:nvSpPr>
        <p:spPr>
          <a:xfrm>
            <a:off x="731520" y="3063240"/>
            <a:ext cx="2194560" cy="228600"/>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Web Speech API</a:t>
            </a:r>
            <a:endParaRPr lang="en-US" sz="1000" dirty="0"/>
          </a:p>
        </p:txBody>
      </p:sp>
      <p:sp>
        <p:nvSpPr>
          <p:cNvPr id="11" name="Shape 8"/>
          <p:cNvSpPr/>
          <p:nvPr/>
        </p:nvSpPr>
        <p:spPr>
          <a:xfrm>
            <a:off x="3108960" y="2450592"/>
            <a:ext cx="274320" cy="219456"/>
          </a:xfrm>
          <a:prstGeom prst="rtTriangle">
            <a:avLst/>
          </a:prstGeom>
          <a:solidFill>
            <a:srgbClr val="4338CA"/>
          </a:solidFill>
          <a:ln/>
        </p:spPr>
      </p:sp>
      <p:sp>
        <p:nvSpPr>
          <p:cNvPr id="12" name="Shape 9"/>
          <p:cNvSpPr/>
          <p:nvPr/>
        </p:nvSpPr>
        <p:spPr>
          <a:xfrm>
            <a:off x="3429000" y="1828800"/>
            <a:ext cx="2468880" cy="1463040"/>
          </a:xfrm>
          <a:prstGeom prst="rect">
            <a:avLst/>
          </a:prstGeom>
          <a:solidFill>
            <a:srgbClr val="FFFFFF"/>
          </a:solidFill>
          <a:ln w="12700">
            <a:solidFill>
              <a:srgbClr val="E2E8F0"/>
            </a:solidFill>
            <a:prstDash val="solid"/>
          </a:ln>
          <a:effectLst>
            <a:outerShdw blurRad="127000" dist="38100" dir="5400000" algn="bl" rotWithShape="0">
              <a:srgbClr val="0F172A">
                <a:alpha val="6000"/>
              </a:srgbClr>
            </a:outerShdw>
          </a:effectLst>
        </p:spPr>
        <p:txBody>
          <a:bodyPr/>
          <a:lstStyle/>
          <a:p>
            <a:endParaRPr lang="en-US" dirty="0"/>
          </a:p>
        </p:txBody>
      </p:sp>
      <p:sp>
        <p:nvSpPr>
          <p:cNvPr id="13" name="Shape 10"/>
          <p:cNvSpPr/>
          <p:nvPr/>
        </p:nvSpPr>
        <p:spPr>
          <a:xfrm>
            <a:off x="3429000" y="1828800"/>
            <a:ext cx="2468880" cy="73152"/>
          </a:xfrm>
          <a:prstGeom prst="rect">
            <a:avLst/>
          </a:prstGeom>
          <a:solidFill>
            <a:srgbClr val="06B6D4"/>
          </a:solidFill>
          <a:ln/>
        </p:spPr>
      </p:sp>
      <p:sp>
        <p:nvSpPr>
          <p:cNvPr id="14" name="Shape 11"/>
          <p:cNvSpPr/>
          <p:nvPr/>
        </p:nvSpPr>
        <p:spPr>
          <a:xfrm>
            <a:off x="4274820" y="2057400"/>
            <a:ext cx="777240" cy="777240"/>
          </a:xfrm>
          <a:prstGeom prst="rect">
            <a:avLst/>
          </a:prstGeom>
          <a:solidFill>
            <a:srgbClr val="E0E7FF"/>
          </a:solidFill>
          <a:ln/>
        </p:spPr>
        <p:txBody>
          <a:bodyPr/>
          <a:lstStyle/>
          <a:p>
            <a:endParaRPr lang="en-US" dirty="0"/>
          </a:p>
        </p:txBody>
      </p:sp>
      <p:pic>
        <p:nvPicPr>
          <p:cNvPr id="15" name="Image 1" descr="preencoded.png"/>
          <p:cNvPicPr>
            <a:picLocks noChangeAspect="1"/>
          </p:cNvPicPr>
          <p:nvPr/>
        </p:nvPicPr>
        <p:blipFill>
          <a:blip r:embed="rId4"/>
          <a:stretch>
            <a:fillRect/>
          </a:stretch>
        </p:blipFill>
        <p:spPr>
          <a:xfrm>
            <a:off x="4445813" y="2228393"/>
            <a:ext cx="435254" cy="435254"/>
          </a:xfrm>
          <a:prstGeom prst="rect">
            <a:avLst/>
          </a:prstGeom>
        </p:spPr>
      </p:pic>
      <p:sp>
        <p:nvSpPr>
          <p:cNvPr id="16" name="Text 12"/>
          <p:cNvSpPr/>
          <p:nvPr/>
        </p:nvSpPr>
        <p:spPr>
          <a:xfrm>
            <a:off x="3566160" y="2788920"/>
            <a:ext cx="2194560" cy="320040"/>
          </a:xfrm>
          <a:prstGeom prst="rect">
            <a:avLst/>
          </a:prstGeom>
          <a:noFill/>
          <a:ln/>
        </p:spPr>
        <p:txBody>
          <a:bodyPr wrap="square" lIns="0" tIns="0" rIns="0" bIns="0" rtlCol="0" anchor="ctr"/>
          <a:lstStyle/>
          <a:p>
            <a:pPr marL="0" indent="0" algn="ctr">
              <a:buNone/>
            </a:pPr>
            <a:r>
              <a:rPr lang="en-US" sz="1400" b="1" dirty="0">
                <a:solidFill>
                  <a:srgbClr val="1E293B"/>
                </a:solidFill>
                <a:latin typeface="Calibri" pitchFamily="34" charset="0"/>
                <a:ea typeface="Calibri" pitchFamily="34" charset="-122"/>
                <a:cs typeface="Calibri" pitchFamily="34" charset="-120"/>
              </a:rPr>
              <a:t>2 · LLM Planner</a:t>
            </a:r>
            <a:endParaRPr lang="en-US" sz="1400" dirty="0"/>
          </a:p>
        </p:txBody>
      </p:sp>
      <p:sp>
        <p:nvSpPr>
          <p:cNvPr id="17" name="Text 13"/>
          <p:cNvSpPr/>
          <p:nvPr/>
        </p:nvSpPr>
        <p:spPr>
          <a:xfrm>
            <a:off x="3566160" y="3063240"/>
            <a:ext cx="2194560" cy="228600"/>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Llama 3.3 70B (Groq)</a:t>
            </a:r>
            <a:endParaRPr lang="en-US" sz="1000" dirty="0"/>
          </a:p>
        </p:txBody>
      </p:sp>
      <p:sp>
        <p:nvSpPr>
          <p:cNvPr id="18" name="Shape 14"/>
          <p:cNvSpPr/>
          <p:nvPr/>
        </p:nvSpPr>
        <p:spPr>
          <a:xfrm>
            <a:off x="5943600" y="2450592"/>
            <a:ext cx="274320" cy="219456"/>
          </a:xfrm>
          <a:prstGeom prst="rtTriangle">
            <a:avLst/>
          </a:prstGeom>
          <a:solidFill>
            <a:srgbClr val="4338CA"/>
          </a:solidFill>
          <a:ln/>
        </p:spPr>
      </p:sp>
      <p:sp>
        <p:nvSpPr>
          <p:cNvPr id="19" name="Shape 15"/>
          <p:cNvSpPr/>
          <p:nvPr/>
        </p:nvSpPr>
        <p:spPr>
          <a:xfrm>
            <a:off x="6263640" y="1828800"/>
            <a:ext cx="2468880" cy="1463040"/>
          </a:xfrm>
          <a:prstGeom prst="rect">
            <a:avLst/>
          </a:prstGeom>
          <a:solidFill>
            <a:srgbClr val="FFFFFF"/>
          </a:solidFill>
          <a:ln w="12700">
            <a:solidFill>
              <a:srgbClr val="E2E8F0"/>
            </a:solidFill>
            <a:prstDash val="solid"/>
          </a:ln>
          <a:effectLst>
            <a:outerShdw blurRad="127000" dist="38100" dir="5400000" algn="bl" rotWithShape="0">
              <a:srgbClr val="0F172A">
                <a:alpha val="6000"/>
              </a:srgbClr>
            </a:outerShdw>
          </a:effectLst>
        </p:spPr>
      </p:sp>
      <p:sp>
        <p:nvSpPr>
          <p:cNvPr id="20" name="Shape 16"/>
          <p:cNvSpPr/>
          <p:nvPr/>
        </p:nvSpPr>
        <p:spPr>
          <a:xfrm>
            <a:off x="6263640" y="1828800"/>
            <a:ext cx="2468880" cy="73152"/>
          </a:xfrm>
          <a:prstGeom prst="rect">
            <a:avLst/>
          </a:prstGeom>
          <a:solidFill>
            <a:srgbClr val="06B6D4"/>
          </a:solidFill>
          <a:ln/>
        </p:spPr>
      </p:sp>
      <p:sp>
        <p:nvSpPr>
          <p:cNvPr id="21" name="Shape 17"/>
          <p:cNvSpPr/>
          <p:nvPr/>
        </p:nvSpPr>
        <p:spPr>
          <a:xfrm>
            <a:off x="7109460" y="2057400"/>
            <a:ext cx="777240" cy="777240"/>
          </a:xfrm>
          <a:prstGeom prst="rect">
            <a:avLst/>
          </a:prstGeom>
          <a:solidFill>
            <a:srgbClr val="E0E7FF"/>
          </a:solidFill>
          <a:ln/>
        </p:spPr>
      </p:sp>
      <p:pic>
        <p:nvPicPr>
          <p:cNvPr id="22" name="Image 2" descr="preencoded.png"/>
          <p:cNvPicPr>
            <a:picLocks noChangeAspect="1"/>
          </p:cNvPicPr>
          <p:nvPr/>
        </p:nvPicPr>
        <p:blipFill>
          <a:blip r:embed="rId5"/>
          <a:stretch>
            <a:fillRect/>
          </a:stretch>
        </p:blipFill>
        <p:spPr>
          <a:xfrm>
            <a:off x="7280453" y="2228393"/>
            <a:ext cx="435254" cy="435254"/>
          </a:xfrm>
          <a:prstGeom prst="rect">
            <a:avLst/>
          </a:prstGeom>
        </p:spPr>
      </p:pic>
      <p:sp>
        <p:nvSpPr>
          <p:cNvPr id="23" name="Text 18"/>
          <p:cNvSpPr/>
          <p:nvPr/>
        </p:nvSpPr>
        <p:spPr>
          <a:xfrm>
            <a:off x="6400800" y="2788920"/>
            <a:ext cx="2194560" cy="320040"/>
          </a:xfrm>
          <a:prstGeom prst="rect">
            <a:avLst/>
          </a:prstGeom>
          <a:noFill/>
          <a:ln/>
        </p:spPr>
        <p:txBody>
          <a:bodyPr wrap="square" lIns="0" tIns="0" rIns="0" bIns="0" rtlCol="0" anchor="ctr"/>
          <a:lstStyle/>
          <a:p>
            <a:pPr marL="0" indent="0" algn="ctr">
              <a:buNone/>
            </a:pPr>
            <a:r>
              <a:rPr lang="en-US" sz="1400" b="1" dirty="0">
                <a:solidFill>
                  <a:srgbClr val="1E293B"/>
                </a:solidFill>
                <a:latin typeface="Calibri" pitchFamily="34" charset="0"/>
                <a:ea typeface="Calibri" pitchFamily="34" charset="-122"/>
                <a:cs typeface="Calibri" pitchFamily="34" charset="-120"/>
              </a:rPr>
              <a:t>3 · Executor</a:t>
            </a:r>
            <a:endParaRPr lang="en-US" sz="1400" dirty="0"/>
          </a:p>
        </p:txBody>
      </p:sp>
      <p:sp>
        <p:nvSpPr>
          <p:cNvPr id="24" name="Text 19"/>
          <p:cNvSpPr/>
          <p:nvPr/>
        </p:nvSpPr>
        <p:spPr>
          <a:xfrm>
            <a:off x="6400800" y="3063240"/>
            <a:ext cx="2194560" cy="228600"/>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FastAPI + asyncio</a:t>
            </a:r>
            <a:endParaRPr lang="en-US" sz="1000" dirty="0"/>
          </a:p>
        </p:txBody>
      </p:sp>
      <p:sp>
        <p:nvSpPr>
          <p:cNvPr id="25" name="Shape 20"/>
          <p:cNvSpPr/>
          <p:nvPr/>
        </p:nvSpPr>
        <p:spPr>
          <a:xfrm>
            <a:off x="8778240" y="2450592"/>
            <a:ext cx="274320" cy="219456"/>
          </a:xfrm>
          <a:prstGeom prst="rtTriangle">
            <a:avLst/>
          </a:prstGeom>
          <a:solidFill>
            <a:srgbClr val="4338CA"/>
          </a:solidFill>
          <a:ln/>
        </p:spPr>
      </p:sp>
      <p:sp>
        <p:nvSpPr>
          <p:cNvPr id="26" name="Shape 21"/>
          <p:cNvSpPr/>
          <p:nvPr/>
        </p:nvSpPr>
        <p:spPr>
          <a:xfrm>
            <a:off x="9098280" y="1828800"/>
            <a:ext cx="2468880" cy="1463040"/>
          </a:xfrm>
          <a:prstGeom prst="rect">
            <a:avLst/>
          </a:prstGeom>
          <a:solidFill>
            <a:srgbClr val="FFFFFF"/>
          </a:solidFill>
          <a:ln w="12700">
            <a:solidFill>
              <a:srgbClr val="E2E8F0"/>
            </a:solidFill>
            <a:prstDash val="solid"/>
          </a:ln>
          <a:effectLst>
            <a:outerShdw blurRad="127000" dist="38100" dir="5400000" algn="bl" rotWithShape="0">
              <a:srgbClr val="0F172A">
                <a:alpha val="6000"/>
              </a:srgbClr>
            </a:outerShdw>
          </a:effectLst>
        </p:spPr>
      </p:sp>
      <p:sp>
        <p:nvSpPr>
          <p:cNvPr id="27" name="Shape 22"/>
          <p:cNvSpPr/>
          <p:nvPr/>
        </p:nvSpPr>
        <p:spPr>
          <a:xfrm>
            <a:off x="9098280" y="1828800"/>
            <a:ext cx="2468880" cy="73152"/>
          </a:xfrm>
          <a:prstGeom prst="rect">
            <a:avLst/>
          </a:prstGeom>
          <a:solidFill>
            <a:srgbClr val="06B6D4"/>
          </a:solidFill>
          <a:ln/>
        </p:spPr>
      </p:sp>
      <p:sp>
        <p:nvSpPr>
          <p:cNvPr id="28" name="Shape 23"/>
          <p:cNvSpPr/>
          <p:nvPr/>
        </p:nvSpPr>
        <p:spPr>
          <a:xfrm>
            <a:off x="9944100" y="2057400"/>
            <a:ext cx="777240" cy="777240"/>
          </a:xfrm>
          <a:prstGeom prst="rect">
            <a:avLst/>
          </a:prstGeom>
          <a:solidFill>
            <a:srgbClr val="E0E7FF"/>
          </a:solidFill>
          <a:ln/>
        </p:spPr>
      </p:sp>
      <p:pic>
        <p:nvPicPr>
          <p:cNvPr id="29" name="Image 3" descr="preencoded.png"/>
          <p:cNvPicPr>
            <a:picLocks noChangeAspect="1"/>
          </p:cNvPicPr>
          <p:nvPr/>
        </p:nvPicPr>
        <p:blipFill>
          <a:blip r:embed="rId6"/>
          <a:stretch>
            <a:fillRect/>
          </a:stretch>
        </p:blipFill>
        <p:spPr>
          <a:xfrm>
            <a:off x="10115093" y="2228393"/>
            <a:ext cx="435254" cy="435254"/>
          </a:xfrm>
          <a:prstGeom prst="rect">
            <a:avLst/>
          </a:prstGeom>
        </p:spPr>
      </p:pic>
      <p:sp>
        <p:nvSpPr>
          <p:cNvPr id="30" name="Text 24"/>
          <p:cNvSpPr/>
          <p:nvPr/>
        </p:nvSpPr>
        <p:spPr>
          <a:xfrm>
            <a:off x="9235440" y="2788920"/>
            <a:ext cx="2194560" cy="320040"/>
          </a:xfrm>
          <a:prstGeom prst="rect">
            <a:avLst/>
          </a:prstGeom>
          <a:noFill/>
          <a:ln/>
        </p:spPr>
        <p:txBody>
          <a:bodyPr wrap="square" lIns="0" tIns="0" rIns="0" bIns="0" rtlCol="0" anchor="ctr"/>
          <a:lstStyle/>
          <a:p>
            <a:pPr marL="0" indent="0" algn="ctr">
              <a:buNone/>
            </a:pPr>
            <a:r>
              <a:rPr lang="en-US" sz="1400" b="1" dirty="0">
                <a:solidFill>
                  <a:srgbClr val="1E293B"/>
                </a:solidFill>
                <a:latin typeface="Calibri" pitchFamily="34" charset="0"/>
                <a:ea typeface="Calibri" pitchFamily="34" charset="-122"/>
                <a:cs typeface="Calibri" pitchFamily="34" charset="-120"/>
              </a:rPr>
              <a:t>4 · Drone</a:t>
            </a:r>
            <a:endParaRPr lang="en-US" sz="1400" dirty="0"/>
          </a:p>
        </p:txBody>
      </p:sp>
      <p:sp>
        <p:nvSpPr>
          <p:cNvPr id="31" name="Text 25"/>
          <p:cNvSpPr/>
          <p:nvPr/>
        </p:nvSpPr>
        <p:spPr>
          <a:xfrm>
            <a:off x="9235440" y="3063240"/>
            <a:ext cx="2194560" cy="228600"/>
          </a:xfrm>
          <a:prstGeom prst="rect">
            <a:avLst/>
          </a:prstGeom>
          <a:noFill/>
          <a:ln/>
        </p:spPr>
        <p:txBody>
          <a:bodyPr wrap="square" lIns="0" tIns="0" rIns="0" bIns="0" rtlCol="0" anchor="ctr"/>
          <a:lstStyle/>
          <a:p>
            <a:pPr marL="0" indent="0" algn="ctr">
              <a:buNone/>
            </a:pPr>
            <a:r>
              <a:rPr lang="en-US" sz="1000" dirty="0">
                <a:solidFill>
                  <a:srgbClr val="94A3B8"/>
                </a:solidFill>
                <a:latin typeface="Calibri" pitchFamily="34" charset="0"/>
                <a:ea typeface="Calibri" pitchFamily="34" charset="-122"/>
                <a:cs typeface="Calibri" pitchFamily="34" charset="-120"/>
              </a:rPr>
              <a:t>Tello SDK</a:t>
            </a:r>
            <a:endParaRPr lang="en-US" sz="1000" dirty="0"/>
          </a:p>
        </p:txBody>
      </p:sp>
      <p:sp>
        <p:nvSpPr>
          <p:cNvPr id="32" name="Shape 26"/>
          <p:cNvSpPr/>
          <p:nvPr/>
        </p:nvSpPr>
        <p:spPr>
          <a:xfrm>
            <a:off x="594360" y="3840480"/>
            <a:ext cx="10972800" cy="822960"/>
          </a:xfrm>
          <a:prstGeom prst="rect">
            <a:avLst/>
          </a:prstGeom>
          <a:solidFill>
            <a:srgbClr val="CFFAFE"/>
          </a:solidFill>
          <a:ln/>
        </p:spPr>
      </p:sp>
      <p:sp>
        <p:nvSpPr>
          <p:cNvPr id="33" name="Shape 27"/>
          <p:cNvSpPr/>
          <p:nvPr/>
        </p:nvSpPr>
        <p:spPr>
          <a:xfrm>
            <a:off x="594360" y="3840480"/>
            <a:ext cx="73152" cy="822960"/>
          </a:xfrm>
          <a:prstGeom prst="rect">
            <a:avLst/>
          </a:prstGeom>
          <a:solidFill>
            <a:srgbClr val="06B6D4"/>
          </a:solidFill>
          <a:ln/>
        </p:spPr>
      </p:sp>
      <p:sp>
        <p:nvSpPr>
          <p:cNvPr id="34" name="Shape 28"/>
          <p:cNvSpPr/>
          <p:nvPr/>
        </p:nvSpPr>
        <p:spPr>
          <a:xfrm>
            <a:off x="822960" y="3977640"/>
            <a:ext cx="548640" cy="548640"/>
          </a:xfrm>
          <a:prstGeom prst="rect">
            <a:avLst/>
          </a:prstGeom>
          <a:solidFill>
            <a:srgbClr val="FFFFFF"/>
          </a:solidFill>
          <a:ln/>
        </p:spPr>
      </p:sp>
      <p:pic>
        <p:nvPicPr>
          <p:cNvPr id="35" name="Image 4" descr="preencoded.png"/>
          <p:cNvPicPr>
            <a:picLocks noChangeAspect="1"/>
          </p:cNvPicPr>
          <p:nvPr/>
        </p:nvPicPr>
        <p:blipFill>
          <a:blip r:embed="rId7"/>
          <a:stretch>
            <a:fillRect/>
          </a:stretch>
        </p:blipFill>
        <p:spPr>
          <a:xfrm>
            <a:off x="943661" y="4098341"/>
            <a:ext cx="307238" cy="307238"/>
          </a:xfrm>
          <a:prstGeom prst="rect">
            <a:avLst/>
          </a:prstGeom>
        </p:spPr>
      </p:pic>
      <p:sp>
        <p:nvSpPr>
          <p:cNvPr id="36" name="Text 29"/>
          <p:cNvSpPr/>
          <p:nvPr/>
        </p:nvSpPr>
        <p:spPr>
          <a:xfrm>
            <a:off x="1554480" y="3931920"/>
            <a:ext cx="9875520" cy="640080"/>
          </a:xfrm>
          <a:prstGeom prst="rect">
            <a:avLst/>
          </a:prstGeom>
          <a:noFill/>
          <a:ln/>
        </p:spPr>
        <p:txBody>
          <a:bodyPr wrap="square" lIns="0" tIns="0" rIns="0" bIns="0" rtlCol="0" anchor="ctr"/>
          <a:lstStyle/>
          <a:p>
            <a:pPr marL="0" indent="0">
              <a:buNone/>
            </a:pPr>
            <a:r>
              <a:rPr lang="en-US" sz="1300" b="1" dirty="0">
                <a:solidFill>
                  <a:srgbClr val="1E293B"/>
                </a:solidFill>
                <a:latin typeface="Calibri" pitchFamily="34" charset="0"/>
                <a:ea typeface="Calibri" pitchFamily="34" charset="-122"/>
                <a:cs typeface="Calibri" pitchFamily="34" charset="-120"/>
              </a:rPr>
              <a:t>⟲  Boucle de vision YOLOv8 — </a:t>
            </a:r>
            <a:r>
              <a:rPr lang="en-US" sz="1300" dirty="0">
                <a:solidFill>
                  <a:srgbClr val="1E293B"/>
                </a:solidFill>
                <a:latin typeface="Calibri" pitchFamily="34" charset="0"/>
                <a:ea typeface="Calibri" pitchFamily="34" charset="-122"/>
                <a:cs typeface="Calibri" pitchFamily="34" charset="-120"/>
              </a:rPr>
              <a:t>30 fps, annotation des obstacles, </a:t>
            </a:r>
            <a:r>
              <a:rPr lang="en-US" sz="1300" b="1" dirty="0">
                <a:solidFill>
                  <a:srgbClr val="1E1B4B"/>
                </a:solidFill>
                <a:latin typeface="Calibri" pitchFamily="34" charset="0"/>
                <a:ea typeface="Calibri" pitchFamily="34" charset="-122"/>
                <a:cs typeface="Calibri" pitchFamily="34" charset="-120"/>
              </a:rPr>
              <a:t>annulation automatique des ordres dangereux</a:t>
            </a:r>
            <a:endParaRPr lang="en-US" sz="1300" dirty="0"/>
          </a:p>
        </p:txBody>
      </p:sp>
      <p:sp>
        <p:nvSpPr>
          <p:cNvPr id="37" name="Shape 30"/>
          <p:cNvSpPr/>
          <p:nvPr/>
        </p:nvSpPr>
        <p:spPr>
          <a:xfrm>
            <a:off x="411480" y="4983480"/>
            <a:ext cx="502920" cy="502920"/>
          </a:xfrm>
          <a:prstGeom prst="rect">
            <a:avLst/>
          </a:prstGeom>
          <a:solidFill>
            <a:srgbClr val="E0E7FF"/>
          </a:solidFill>
          <a:ln/>
        </p:spPr>
      </p:sp>
      <p:pic>
        <p:nvPicPr>
          <p:cNvPr id="38" name="Image 5" descr="preencoded.png"/>
          <p:cNvPicPr>
            <a:picLocks noChangeAspect="1"/>
          </p:cNvPicPr>
          <p:nvPr/>
        </p:nvPicPr>
        <p:blipFill>
          <a:blip r:embed="rId8"/>
          <a:stretch>
            <a:fillRect/>
          </a:stretch>
        </p:blipFill>
        <p:spPr>
          <a:xfrm>
            <a:off x="522122" y="5094122"/>
            <a:ext cx="281635" cy="281635"/>
          </a:xfrm>
          <a:prstGeom prst="rect">
            <a:avLst/>
          </a:prstGeom>
        </p:spPr>
      </p:pic>
      <p:sp>
        <p:nvSpPr>
          <p:cNvPr id="39" name="Text 31"/>
          <p:cNvSpPr/>
          <p:nvPr/>
        </p:nvSpPr>
        <p:spPr>
          <a:xfrm>
            <a:off x="1097280" y="4983480"/>
            <a:ext cx="292608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Réactif</a:t>
            </a:r>
            <a:endParaRPr lang="en-US" sz="1400" dirty="0"/>
          </a:p>
        </p:txBody>
      </p:sp>
      <p:sp>
        <p:nvSpPr>
          <p:cNvPr id="40" name="Text 32"/>
          <p:cNvSpPr/>
          <p:nvPr/>
        </p:nvSpPr>
        <p:spPr>
          <a:xfrm>
            <a:off x="1097280" y="5257800"/>
            <a:ext cx="2926080" cy="27432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Plan généré en &lt; 500 ms</a:t>
            </a:r>
            <a:endParaRPr lang="en-US" sz="1100" dirty="0"/>
          </a:p>
        </p:txBody>
      </p:sp>
      <p:sp>
        <p:nvSpPr>
          <p:cNvPr id="41" name="Shape 33"/>
          <p:cNvSpPr/>
          <p:nvPr/>
        </p:nvSpPr>
        <p:spPr>
          <a:xfrm>
            <a:off x="4251960" y="4983480"/>
            <a:ext cx="502920" cy="502920"/>
          </a:xfrm>
          <a:prstGeom prst="rect">
            <a:avLst/>
          </a:prstGeom>
          <a:solidFill>
            <a:srgbClr val="E0E7FF"/>
          </a:solidFill>
          <a:ln/>
        </p:spPr>
      </p:sp>
      <p:pic>
        <p:nvPicPr>
          <p:cNvPr id="42" name="Image 6" descr="preencoded.png"/>
          <p:cNvPicPr>
            <a:picLocks noChangeAspect="1"/>
          </p:cNvPicPr>
          <p:nvPr/>
        </p:nvPicPr>
        <p:blipFill>
          <a:blip r:embed="rId9"/>
          <a:stretch>
            <a:fillRect/>
          </a:stretch>
        </p:blipFill>
        <p:spPr>
          <a:xfrm>
            <a:off x="4362602" y="5094122"/>
            <a:ext cx="281635" cy="281635"/>
          </a:xfrm>
          <a:prstGeom prst="rect">
            <a:avLst/>
          </a:prstGeom>
        </p:spPr>
      </p:pic>
      <p:sp>
        <p:nvSpPr>
          <p:cNvPr id="43" name="Text 34"/>
          <p:cNvSpPr/>
          <p:nvPr/>
        </p:nvSpPr>
        <p:spPr>
          <a:xfrm>
            <a:off x="4937760" y="4983480"/>
            <a:ext cx="292608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Sûr</a:t>
            </a:r>
            <a:endParaRPr lang="en-US" sz="1400" dirty="0"/>
          </a:p>
        </p:txBody>
      </p:sp>
      <p:sp>
        <p:nvSpPr>
          <p:cNvPr id="44" name="Text 35"/>
          <p:cNvSpPr/>
          <p:nvPr/>
        </p:nvSpPr>
        <p:spPr>
          <a:xfrm>
            <a:off x="4937760" y="5257800"/>
            <a:ext cx="2926080" cy="27432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Évite, ne s'écrase pas</a:t>
            </a:r>
            <a:endParaRPr lang="en-US" sz="1100" dirty="0"/>
          </a:p>
        </p:txBody>
      </p:sp>
      <p:sp>
        <p:nvSpPr>
          <p:cNvPr id="45" name="Shape 36"/>
          <p:cNvSpPr/>
          <p:nvPr/>
        </p:nvSpPr>
        <p:spPr>
          <a:xfrm>
            <a:off x="8092440" y="4983480"/>
            <a:ext cx="502920" cy="502920"/>
          </a:xfrm>
          <a:prstGeom prst="rect">
            <a:avLst/>
          </a:prstGeom>
          <a:solidFill>
            <a:srgbClr val="E0E7FF"/>
          </a:solidFill>
          <a:ln/>
        </p:spPr>
      </p:sp>
      <p:pic>
        <p:nvPicPr>
          <p:cNvPr id="46" name="Image 7" descr="preencoded.png"/>
          <p:cNvPicPr>
            <a:picLocks noChangeAspect="1"/>
          </p:cNvPicPr>
          <p:nvPr/>
        </p:nvPicPr>
        <p:blipFill>
          <a:blip r:embed="rId10"/>
          <a:stretch>
            <a:fillRect/>
          </a:stretch>
        </p:blipFill>
        <p:spPr>
          <a:xfrm>
            <a:off x="8203082" y="5094122"/>
            <a:ext cx="281635" cy="281635"/>
          </a:xfrm>
          <a:prstGeom prst="rect">
            <a:avLst/>
          </a:prstGeom>
        </p:spPr>
      </p:pic>
      <p:sp>
        <p:nvSpPr>
          <p:cNvPr id="47" name="Text 37"/>
          <p:cNvSpPr/>
          <p:nvPr/>
        </p:nvSpPr>
        <p:spPr>
          <a:xfrm>
            <a:off x="8778240" y="4983480"/>
            <a:ext cx="2926080" cy="274320"/>
          </a:xfrm>
          <a:prstGeom prst="rect">
            <a:avLst/>
          </a:prstGeom>
          <a:noFill/>
          <a:ln/>
        </p:spPr>
        <p:txBody>
          <a:bodyPr wrap="square" lIns="0" tIns="0" rIns="0" bIns="0" rtlCol="0" anchor="ctr"/>
          <a:lstStyle/>
          <a:p>
            <a:pPr marL="0" indent="0">
              <a:buNone/>
            </a:pPr>
            <a:r>
              <a:rPr lang="en-US" sz="1400" b="1" dirty="0">
                <a:solidFill>
                  <a:srgbClr val="1E293B"/>
                </a:solidFill>
                <a:latin typeface="Calibri" pitchFamily="34" charset="0"/>
                <a:ea typeface="Calibri" pitchFamily="34" charset="-122"/>
                <a:cs typeface="Calibri" pitchFamily="34" charset="-120"/>
              </a:rPr>
              <a:t>Modulaire</a:t>
            </a:r>
            <a:endParaRPr lang="en-US" sz="1400" dirty="0"/>
          </a:p>
        </p:txBody>
      </p:sp>
      <p:sp>
        <p:nvSpPr>
          <p:cNvPr id="48" name="Text 38"/>
          <p:cNvSpPr/>
          <p:nvPr/>
        </p:nvSpPr>
        <p:spPr>
          <a:xfrm>
            <a:off x="8778240" y="5257800"/>
            <a:ext cx="2926080" cy="27432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Tello ⇄ Simulator, 1 ligne</a:t>
            </a:r>
            <a:endParaRPr lang="en-US" sz="1100" dirty="0"/>
          </a:p>
        </p:txBody>
      </p:sp>
      <p:sp>
        <p:nvSpPr>
          <p:cNvPr id="49" name="Text 39"/>
          <p:cNvSpPr/>
          <p:nvPr/>
        </p:nvSpPr>
        <p:spPr>
          <a:xfrm>
            <a:off x="10881360" y="6473952"/>
            <a:ext cx="914400" cy="274320"/>
          </a:xfrm>
          <a:prstGeom prst="rect">
            <a:avLst/>
          </a:prstGeom>
          <a:noFill/>
          <a:ln/>
        </p:spPr>
        <p:txBody>
          <a:bodyPr wrap="square" lIns="0" tIns="0" rIns="0" bIns="0" rtlCol="0" anchor="ctr"/>
          <a:lstStyle/>
          <a:p>
            <a:pPr marL="0" indent="0" algn="r">
              <a:buNone/>
            </a:pPr>
            <a:r>
              <a:rPr lang="en-US" sz="900" kern="0" spc="400" dirty="0">
                <a:solidFill>
                  <a:srgbClr val="94A3B8"/>
                </a:solidFill>
                <a:latin typeface="Calibri" pitchFamily="34" charset="0"/>
                <a:ea typeface="Calibri" pitchFamily="34" charset="-122"/>
                <a:cs typeface="Calibri" pitchFamily="34" charset="-120"/>
              </a:rPr>
              <a:t>05 / 09</a:t>
            </a:r>
            <a:endParaRPr lang="en-US" sz="900" dirty="0"/>
          </a:p>
        </p:txBody>
      </p:sp>
      <p:sp>
        <p:nvSpPr>
          <p:cNvPr id="50" name="Text 40"/>
          <p:cNvSpPr/>
          <p:nvPr/>
        </p:nvSpPr>
        <p:spPr>
          <a:xfrm>
            <a:off x="457200" y="6473952"/>
            <a:ext cx="1828800" cy="274320"/>
          </a:xfrm>
          <a:prstGeom prst="rect">
            <a:avLst/>
          </a:prstGeom>
          <a:noFill/>
          <a:ln/>
        </p:spPr>
        <p:txBody>
          <a:bodyPr wrap="square" lIns="0" tIns="0" rIns="0" bIns="0" rtlCol="0" anchor="ctr"/>
          <a:lstStyle/>
          <a:p>
            <a:pPr marL="0" indent="0" algn="l">
              <a:buNone/>
            </a:pPr>
            <a:r>
              <a:rPr lang="en-US" sz="900" b="1" kern="0" spc="600" dirty="0">
                <a:solidFill>
                  <a:srgbClr val="4338CA"/>
                </a:solidFill>
                <a:latin typeface="Calibri" pitchFamily="34" charset="0"/>
                <a:ea typeface="Calibri" pitchFamily="34" charset="-122"/>
                <a:cs typeface="Calibri" pitchFamily="34" charset="-120"/>
              </a:rPr>
              <a:t>AI-R</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71C6E212-71D5-FCB3-845D-66530F478E17}"/>
              </a:ext>
            </a:extLst>
          </p:cNvPr>
          <p:cNvSpPr txBox="1"/>
          <p:nvPr/>
        </p:nvSpPr>
        <p:spPr>
          <a:xfrm>
            <a:off x="866692" y="1518699"/>
            <a:ext cx="7879743" cy="3139321"/>
          </a:xfrm>
          <a:prstGeom prst="rect">
            <a:avLst/>
          </a:prstGeom>
          <a:noFill/>
        </p:spPr>
        <p:txBody>
          <a:bodyPr wrap="square" rtlCol="0">
            <a:spAutoFit/>
          </a:bodyPr>
          <a:lstStyle/>
          <a:p>
            <a:pPr marL="285750" indent="-285750">
              <a:buFont typeface="Arial" panose="020B0604020202020204" pitchFamily="34" charset="0"/>
              <a:buChar char="•"/>
            </a:pPr>
            <a:r>
              <a:rPr lang="fr-FR" b="1" dirty="0"/>
              <a:t>Le Drone Autonome comme 'Éclaireur' :</a:t>
            </a:r>
            <a:r>
              <a:rPr lang="fr-FR" dirty="0"/>
              <a:t> Grâce à </a:t>
            </a:r>
            <a:r>
              <a:rPr lang="fr-FR" b="1" dirty="0"/>
              <a:t>YOLO</a:t>
            </a:r>
            <a:r>
              <a:rPr lang="fr-FR" dirty="0"/>
              <a:t>, le drone peut identifier des obstacles et ce, de manière automatique.</a:t>
            </a:r>
          </a:p>
          <a:p>
            <a:endParaRPr lang="fr-FR" dirty="0"/>
          </a:p>
          <a:p>
            <a:pPr marL="285750" indent="-285750">
              <a:buFont typeface="Arial" panose="020B0604020202020204" pitchFamily="34" charset="0"/>
              <a:buChar char="•"/>
            </a:pPr>
            <a:r>
              <a:rPr lang="fr-FR" b="1" dirty="0"/>
              <a:t>Le LLM comme 'Officier de Liaison' :</a:t>
            </a:r>
            <a:r>
              <a:rPr lang="fr-FR" dirty="0"/>
              <a:t> Au lieu de manipuler des joysticks complexes, l’opérateur sur le terrain donne un ordre simple en langage naturel : </a:t>
            </a:r>
            <a:r>
              <a:rPr lang="fr-FR" i="1" dirty="0"/>
              <a:t>"Va inspecter le bosquet à 500m et reviens si tu vois une activité suspecte"</a:t>
            </a:r>
            <a:r>
              <a:rPr lang="fr-FR" dirty="0"/>
              <a:t>.</a:t>
            </a:r>
          </a:p>
          <a:p>
            <a:endParaRPr lang="fr-FR" dirty="0"/>
          </a:p>
          <a:p>
            <a:pPr marL="285750" indent="-285750">
              <a:buFont typeface="Arial" panose="020B0604020202020204" pitchFamily="34" charset="0"/>
              <a:buChar char="•"/>
            </a:pPr>
            <a:r>
              <a:rPr lang="fr-FR" b="1" dirty="0"/>
              <a:t>L'Autonomie pour la survie :</a:t>
            </a:r>
            <a:r>
              <a:rPr lang="fr-FR" dirty="0"/>
              <a:t> Si le drone est brouillé par l'ennemi, il ne s'écrase pas. Il possède assez d'intelligence embarquée pour finir sa reconnaissance et revenir apporter l'information.</a:t>
            </a:r>
          </a:p>
          <a:p>
            <a:endParaRPr lang="en-US" dirty="0"/>
          </a:p>
        </p:txBody>
      </p:sp>
      <p:sp>
        <p:nvSpPr>
          <p:cNvPr id="3" name="Shape 0">
            <a:extLst>
              <a:ext uri="{FF2B5EF4-FFF2-40B4-BE49-F238E27FC236}">
                <a16:creationId xmlns:a16="http://schemas.microsoft.com/office/drawing/2014/main" id="{3A71DE0B-052D-B6DA-FE48-2D256C057EEA}"/>
              </a:ext>
            </a:extLst>
          </p:cNvPr>
          <p:cNvSpPr/>
          <p:nvPr/>
        </p:nvSpPr>
        <p:spPr>
          <a:xfrm>
            <a:off x="1387502" y="280284"/>
            <a:ext cx="73152" cy="640080"/>
          </a:xfrm>
          <a:prstGeom prst="rect">
            <a:avLst/>
          </a:prstGeom>
          <a:solidFill>
            <a:srgbClr val="06B6D4"/>
          </a:solidFill>
          <a:ln/>
        </p:spPr>
      </p:sp>
      <p:sp>
        <p:nvSpPr>
          <p:cNvPr id="6" name="ZoneTexte 5">
            <a:extLst>
              <a:ext uri="{FF2B5EF4-FFF2-40B4-BE49-F238E27FC236}">
                <a16:creationId xmlns:a16="http://schemas.microsoft.com/office/drawing/2014/main" id="{A5D0BB00-3CF5-00D4-1E97-BC843138DD33}"/>
              </a:ext>
            </a:extLst>
          </p:cNvPr>
          <p:cNvSpPr txBox="1"/>
          <p:nvPr/>
        </p:nvSpPr>
        <p:spPr>
          <a:xfrm>
            <a:off x="1550504" y="280284"/>
            <a:ext cx="5804453" cy="646331"/>
          </a:xfrm>
          <a:prstGeom prst="rect">
            <a:avLst/>
          </a:prstGeom>
          <a:noFill/>
        </p:spPr>
        <p:txBody>
          <a:bodyPr wrap="square" rtlCol="0">
            <a:spAutoFit/>
          </a:bodyPr>
          <a:lstStyle/>
          <a:p>
            <a:r>
              <a:rPr lang="fr-FR" sz="3600" b="1" dirty="0">
                <a:solidFill>
                  <a:schemeClr val="accent1"/>
                </a:solidFill>
              </a:rPr>
              <a:t>AI-R</a:t>
            </a:r>
            <a:endParaRPr lang="en-US" sz="3600" b="1" dirty="0">
              <a:solidFill>
                <a:schemeClr val="accent1"/>
              </a:solidFill>
            </a:endParaRPr>
          </a:p>
        </p:txBody>
      </p:sp>
      <p:sp>
        <p:nvSpPr>
          <p:cNvPr id="7" name="Shape 0">
            <a:extLst>
              <a:ext uri="{FF2B5EF4-FFF2-40B4-BE49-F238E27FC236}">
                <a16:creationId xmlns:a16="http://schemas.microsoft.com/office/drawing/2014/main" id="{5E53D99B-2B3E-5EBC-33FE-A63C256763C2}"/>
              </a:ext>
            </a:extLst>
          </p:cNvPr>
          <p:cNvSpPr/>
          <p:nvPr/>
        </p:nvSpPr>
        <p:spPr>
          <a:xfrm rot="5400000">
            <a:off x="4592248" y="-2798036"/>
            <a:ext cx="73152" cy="6156639"/>
          </a:xfrm>
          <a:prstGeom prst="rect">
            <a:avLst/>
          </a:prstGeom>
          <a:solidFill>
            <a:schemeClr val="tx1"/>
          </a:solidFill>
          <a:ln/>
        </p:spPr>
      </p:sp>
    </p:spTree>
    <p:extLst>
      <p:ext uri="{BB962C8B-B14F-4D97-AF65-F5344CB8AC3E}">
        <p14:creationId xmlns:p14="http://schemas.microsoft.com/office/powerpoint/2010/main" val="22817649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0B1120"/>
        </a:solidFill>
        <a:effectLst/>
      </p:bgPr>
    </p:bg>
    <p:spTree>
      <p:nvGrpSpPr>
        <p:cNvPr id="1" name=""/>
        <p:cNvGrpSpPr/>
        <p:nvPr/>
      </p:nvGrpSpPr>
      <p:grpSpPr>
        <a:xfrm>
          <a:off x="0" y="0"/>
          <a:ext cx="0" cy="0"/>
          <a:chOff x="0" y="0"/>
          <a:chExt cx="0" cy="0"/>
        </a:xfrm>
      </p:grpSpPr>
      <p:sp>
        <p:nvSpPr>
          <p:cNvPr id="2" name="Shape 0"/>
          <p:cNvSpPr/>
          <p:nvPr/>
        </p:nvSpPr>
        <p:spPr>
          <a:xfrm>
            <a:off x="457200" y="502920"/>
            <a:ext cx="73152" cy="640080"/>
          </a:xfrm>
          <a:prstGeom prst="rect">
            <a:avLst/>
          </a:prstGeom>
          <a:solidFill>
            <a:srgbClr val="06B6D4"/>
          </a:solidFill>
          <a:ln/>
        </p:spPr>
      </p:sp>
      <p:sp>
        <p:nvSpPr>
          <p:cNvPr id="3" name="Text 1"/>
          <p:cNvSpPr/>
          <p:nvPr/>
        </p:nvSpPr>
        <p:spPr>
          <a:xfrm>
            <a:off x="713232" y="457200"/>
            <a:ext cx="7315200" cy="731520"/>
          </a:xfrm>
          <a:prstGeom prst="rect">
            <a:avLst/>
          </a:prstGeom>
          <a:noFill/>
          <a:ln/>
        </p:spPr>
        <p:txBody>
          <a:bodyPr wrap="square" lIns="0" tIns="0" rIns="0" bIns="0" rtlCol="0" anchor="ctr"/>
          <a:lstStyle/>
          <a:p>
            <a:pPr marL="0" indent="0" algn="l">
              <a:buNone/>
            </a:pPr>
            <a:r>
              <a:rPr lang="en-US" sz="3200" b="1" dirty="0">
                <a:solidFill>
                  <a:srgbClr val="FFFFFF"/>
                </a:solidFill>
                <a:latin typeface="Calibri" pitchFamily="34" charset="0"/>
                <a:ea typeface="Calibri" pitchFamily="34" charset="-122"/>
                <a:cs typeface="Calibri" pitchFamily="34" charset="-120"/>
              </a:rPr>
              <a:t>Démo</a:t>
            </a:r>
            <a:endParaRPr lang="en-US" sz="3200" dirty="0"/>
          </a:p>
        </p:txBody>
      </p:sp>
      <p:sp>
        <p:nvSpPr>
          <p:cNvPr id="4" name="Text 2"/>
          <p:cNvSpPr/>
          <p:nvPr/>
        </p:nvSpPr>
        <p:spPr>
          <a:xfrm>
            <a:off x="713232" y="1143000"/>
            <a:ext cx="9144000" cy="365760"/>
          </a:xfrm>
          <a:prstGeom prst="rect">
            <a:avLst/>
          </a:prstGeom>
          <a:noFill/>
          <a:ln/>
        </p:spPr>
        <p:txBody>
          <a:bodyPr wrap="square" lIns="0" tIns="0" rIns="0" bIns="0" rtlCol="0" anchor="ctr"/>
          <a:lstStyle/>
          <a:p>
            <a:pPr marL="0" indent="0">
              <a:buNone/>
            </a:pPr>
            <a:r>
              <a:rPr lang="en-US" sz="1300" kern="0" spc="400" dirty="0">
                <a:solidFill>
                  <a:srgbClr val="94A3B8"/>
                </a:solidFill>
                <a:latin typeface="Calibri" pitchFamily="34" charset="0"/>
                <a:ea typeface="Calibri" pitchFamily="34" charset="-122"/>
                <a:cs typeface="Calibri" pitchFamily="34" charset="-120"/>
              </a:rPr>
              <a:t>05 · Captures de l'application en action</a:t>
            </a:r>
            <a:endParaRPr lang="en-US" sz="1300" dirty="0"/>
          </a:p>
        </p:txBody>
      </p:sp>
      <p:sp>
        <p:nvSpPr>
          <p:cNvPr id="5" name="Shape 3"/>
          <p:cNvSpPr/>
          <p:nvPr/>
        </p:nvSpPr>
        <p:spPr>
          <a:xfrm>
            <a:off x="640080" y="1691640"/>
            <a:ext cx="5303520" cy="2377440"/>
          </a:xfrm>
          <a:prstGeom prst="rect">
            <a:avLst/>
          </a:prstGeom>
          <a:solidFill>
            <a:srgbClr val="111827"/>
          </a:solidFill>
          <a:ln w="12700">
            <a:solidFill>
              <a:srgbClr val="1E1B4B"/>
            </a:solidFill>
            <a:prstDash val="solid"/>
          </a:ln>
        </p:spPr>
      </p:sp>
      <p:sp>
        <p:nvSpPr>
          <p:cNvPr id="6" name="Shape 4"/>
          <p:cNvSpPr/>
          <p:nvPr/>
        </p:nvSpPr>
        <p:spPr>
          <a:xfrm>
            <a:off x="640080" y="1691640"/>
            <a:ext cx="73152" cy="2377440"/>
          </a:xfrm>
          <a:prstGeom prst="rect">
            <a:avLst/>
          </a:prstGeom>
          <a:solidFill>
            <a:srgbClr val="06B6D4"/>
          </a:solidFill>
          <a:ln/>
        </p:spPr>
      </p:sp>
      <p:sp>
        <p:nvSpPr>
          <p:cNvPr id="7" name="Shape 5"/>
          <p:cNvSpPr/>
          <p:nvPr/>
        </p:nvSpPr>
        <p:spPr>
          <a:xfrm>
            <a:off x="914400" y="1965960"/>
            <a:ext cx="4754880" cy="1463040"/>
          </a:xfrm>
          <a:prstGeom prst="rect">
            <a:avLst/>
          </a:prstGeom>
          <a:solidFill>
            <a:srgbClr val="1E293B"/>
          </a:solidFill>
          <a:ln/>
        </p:spPr>
        <p:txBody>
          <a:bodyPr/>
          <a:lstStyle/>
          <a:p>
            <a:endParaRPr lang="en-US" dirty="0"/>
          </a:p>
        </p:txBody>
      </p:sp>
      <p:sp>
        <p:nvSpPr>
          <p:cNvPr id="8" name="Shape 6"/>
          <p:cNvSpPr/>
          <p:nvPr/>
        </p:nvSpPr>
        <p:spPr>
          <a:xfrm>
            <a:off x="914400" y="1965960"/>
            <a:ext cx="4754880" cy="164592"/>
          </a:xfrm>
          <a:prstGeom prst="rect">
            <a:avLst/>
          </a:prstGeom>
          <a:solidFill>
            <a:srgbClr val="334155"/>
          </a:solidFill>
          <a:ln/>
        </p:spPr>
      </p:sp>
      <p:sp>
        <p:nvSpPr>
          <p:cNvPr id="9" name="Shape 7"/>
          <p:cNvSpPr/>
          <p:nvPr/>
        </p:nvSpPr>
        <p:spPr>
          <a:xfrm>
            <a:off x="1051560" y="2286000"/>
            <a:ext cx="1997050" cy="201168"/>
          </a:xfrm>
          <a:prstGeom prst="rect">
            <a:avLst/>
          </a:prstGeom>
          <a:solidFill>
            <a:srgbClr val="4338CA"/>
          </a:solidFill>
          <a:ln/>
        </p:spPr>
      </p:sp>
      <p:sp>
        <p:nvSpPr>
          <p:cNvPr id="10" name="Shape 8"/>
          <p:cNvSpPr/>
          <p:nvPr/>
        </p:nvSpPr>
        <p:spPr>
          <a:xfrm>
            <a:off x="1104595" y="2561513"/>
            <a:ext cx="1997050" cy="201168"/>
          </a:xfrm>
          <a:prstGeom prst="rect">
            <a:avLst/>
          </a:prstGeom>
          <a:solidFill>
            <a:srgbClr val="475569"/>
          </a:solidFill>
          <a:ln/>
        </p:spPr>
        <p:txBody>
          <a:bodyPr/>
          <a:lstStyle/>
          <a:p>
            <a:endParaRPr lang="en-US" dirty="0"/>
          </a:p>
        </p:txBody>
      </p:sp>
      <p:sp>
        <p:nvSpPr>
          <p:cNvPr id="11" name="Shape 9"/>
          <p:cNvSpPr/>
          <p:nvPr/>
        </p:nvSpPr>
        <p:spPr>
          <a:xfrm>
            <a:off x="1051560" y="2871216"/>
            <a:ext cx="1997050" cy="201168"/>
          </a:xfrm>
          <a:prstGeom prst="rect">
            <a:avLst/>
          </a:prstGeom>
          <a:solidFill>
            <a:srgbClr val="475569"/>
          </a:solidFill>
          <a:ln/>
        </p:spPr>
      </p:sp>
      <p:sp>
        <p:nvSpPr>
          <p:cNvPr id="12" name="Shape 10"/>
          <p:cNvSpPr/>
          <p:nvPr/>
        </p:nvSpPr>
        <p:spPr>
          <a:xfrm>
            <a:off x="3291840" y="2286000"/>
            <a:ext cx="2139696" cy="960120"/>
          </a:xfrm>
          <a:prstGeom prst="rect">
            <a:avLst/>
          </a:prstGeom>
          <a:solidFill>
            <a:srgbClr val="334155"/>
          </a:solidFill>
          <a:ln/>
        </p:spPr>
        <p:txBody>
          <a:bodyPr/>
          <a:lstStyle/>
          <a:p>
            <a:endParaRPr lang="en-US" dirty="0"/>
          </a:p>
        </p:txBody>
      </p:sp>
      <p:sp>
        <p:nvSpPr>
          <p:cNvPr id="13" name="Shape 11"/>
          <p:cNvSpPr/>
          <p:nvPr/>
        </p:nvSpPr>
        <p:spPr>
          <a:xfrm>
            <a:off x="4892040" y="3108960"/>
            <a:ext cx="640080" cy="201168"/>
          </a:xfrm>
          <a:prstGeom prst="rect">
            <a:avLst/>
          </a:prstGeom>
          <a:solidFill>
            <a:srgbClr val="06B6D4"/>
          </a:solidFill>
          <a:ln/>
        </p:spPr>
      </p:sp>
      <p:sp>
        <p:nvSpPr>
          <p:cNvPr id="14" name="Shape 12"/>
          <p:cNvSpPr/>
          <p:nvPr/>
        </p:nvSpPr>
        <p:spPr>
          <a:xfrm>
            <a:off x="914400" y="3566160"/>
            <a:ext cx="292608" cy="292608"/>
          </a:xfrm>
          <a:prstGeom prst="rect">
            <a:avLst/>
          </a:prstGeom>
          <a:solidFill>
            <a:srgbClr val="4338CA"/>
          </a:solidFill>
          <a:ln/>
        </p:spPr>
      </p:sp>
      <p:pic>
        <p:nvPicPr>
          <p:cNvPr id="15" name="Image 0" descr="preencoded.png"/>
          <p:cNvPicPr>
            <a:picLocks noChangeAspect="1"/>
          </p:cNvPicPr>
          <p:nvPr/>
        </p:nvPicPr>
        <p:blipFill>
          <a:blip r:embed="rId3"/>
          <a:stretch>
            <a:fillRect/>
          </a:stretch>
        </p:blipFill>
        <p:spPr>
          <a:xfrm>
            <a:off x="978774" y="3630534"/>
            <a:ext cx="163860" cy="163860"/>
          </a:xfrm>
          <a:prstGeom prst="rect">
            <a:avLst/>
          </a:prstGeom>
        </p:spPr>
      </p:pic>
      <p:sp>
        <p:nvSpPr>
          <p:cNvPr id="16" name="Text 13"/>
          <p:cNvSpPr/>
          <p:nvPr/>
        </p:nvSpPr>
        <p:spPr>
          <a:xfrm>
            <a:off x="1325880" y="3474720"/>
            <a:ext cx="438912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Launcher PC</a:t>
            </a:r>
            <a:endParaRPr lang="en-US" sz="1300" dirty="0"/>
          </a:p>
        </p:txBody>
      </p:sp>
      <p:sp>
        <p:nvSpPr>
          <p:cNvPr id="17" name="Text 14"/>
          <p:cNvSpPr/>
          <p:nvPr/>
        </p:nvSpPr>
        <p:spPr>
          <a:xfrm>
            <a:off x="1325880" y="3749040"/>
            <a:ext cx="4389120" cy="22860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Choix mode + historique des drones</a:t>
            </a:r>
            <a:endParaRPr lang="en-US" sz="1000" dirty="0"/>
          </a:p>
        </p:txBody>
      </p:sp>
      <p:sp>
        <p:nvSpPr>
          <p:cNvPr id="18" name="Shape 15"/>
          <p:cNvSpPr/>
          <p:nvPr/>
        </p:nvSpPr>
        <p:spPr>
          <a:xfrm>
            <a:off x="6217920" y="1715493"/>
            <a:ext cx="5303520" cy="2377440"/>
          </a:xfrm>
          <a:prstGeom prst="rect">
            <a:avLst/>
          </a:prstGeom>
          <a:solidFill>
            <a:srgbClr val="111827"/>
          </a:solidFill>
          <a:ln w="12700">
            <a:solidFill>
              <a:srgbClr val="1E1B4B"/>
            </a:solidFill>
            <a:prstDash val="solid"/>
          </a:ln>
        </p:spPr>
      </p:sp>
      <p:sp>
        <p:nvSpPr>
          <p:cNvPr id="19" name="Shape 16"/>
          <p:cNvSpPr/>
          <p:nvPr/>
        </p:nvSpPr>
        <p:spPr>
          <a:xfrm>
            <a:off x="6217920" y="1691640"/>
            <a:ext cx="73152" cy="2377440"/>
          </a:xfrm>
          <a:prstGeom prst="rect">
            <a:avLst/>
          </a:prstGeom>
          <a:solidFill>
            <a:srgbClr val="06B6D4"/>
          </a:solidFill>
          <a:ln/>
        </p:spPr>
      </p:sp>
      <p:sp>
        <p:nvSpPr>
          <p:cNvPr id="20" name="Shape 17"/>
          <p:cNvSpPr/>
          <p:nvPr/>
        </p:nvSpPr>
        <p:spPr>
          <a:xfrm>
            <a:off x="6492240" y="1965960"/>
            <a:ext cx="4754880" cy="1463040"/>
          </a:xfrm>
          <a:prstGeom prst="rect">
            <a:avLst/>
          </a:prstGeom>
          <a:solidFill>
            <a:srgbClr val="1E293B"/>
          </a:solidFill>
          <a:ln/>
        </p:spPr>
        <p:txBody>
          <a:bodyPr/>
          <a:lstStyle/>
          <a:p>
            <a:endParaRPr lang="en-US" dirty="0"/>
          </a:p>
        </p:txBody>
      </p:sp>
      <p:sp>
        <p:nvSpPr>
          <p:cNvPr id="21" name="Shape 18"/>
          <p:cNvSpPr/>
          <p:nvPr/>
        </p:nvSpPr>
        <p:spPr>
          <a:xfrm>
            <a:off x="6675120" y="2103120"/>
            <a:ext cx="0" cy="1188720"/>
          </a:xfrm>
          <a:prstGeom prst="line">
            <a:avLst/>
          </a:prstGeom>
          <a:noFill/>
          <a:ln w="5080">
            <a:solidFill>
              <a:srgbClr val="334155"/>
            </a:solidFill>
            <a:prstDash val="solid"/>
          </a:ln>
        </p:spPr>
      </p:sp>
      <p:sp>
        <p:nvSpPr>
          <p:cNvPr id="22" name="Shape 19"/>
          <p:cNvSpPr/>
          <p:nvPr/>
        </p:nvSpPr>
        <p:spPr>
          <a:xfrm>
            <a:off x="7772400" y="2103120"/>
            <a:ext cx="0" cy="1188720"/>
          </a:xfrm>
          <a:prstGeom prst="line">
            <a:avLst/>
          </a:prstGeom>
          <a:noFill/>
          <a:ln w="5080">
            <a:solidFill>
              <a:srgbClr val="334155"/>
            </a:solidFill>
            <a:prstDash val="solid"/>
          </a:ln>
        </p:spPr>
      </p:sp>
      <p:sp>
        <p:nvSpPr>
          <p:cNvPr id="23" name="Shape 20"/>
          <p:cNvSpPr/>
          <p:nvPr/>
        </p:nvSpPr>
        <p:spPr>
          <a:xfrm>
            <a:off x="8869680" y="2103120"/>
            <a:ext cx="0" cy="1188720"/>
          </a:xfrm>
          <a:prstGeom prst="line">
            <a:avLst/>
          </a:prstGeom>
          <a:noFill/>
          <a:ln w="5080">
            <a:solidFill>
              <a:srgbClr val="334155"/>
            </a:solidFill>
            <a:prstDash val="solid"/>
          </a:ln>
        </p:spPr>
      </p:sp>
      <p:sp>
        <p:nvSpPr>
          <p:cNvPr id="24" name="Shape 21"/>
          <p:cNvSpPr/>
          <p:nvPr/>
        </p:nvSpPr>
        <p:spPr>
          <a:xfrm>
            <a:off x="9966960" y="2103120"/>
            <a:ext cx="0" cy="1188720"/>
          </a:xfrm>
          <a:prstGeom prst="line">
            <a:avLst/>
          </a:prstGeom>
          <a:noFill/>
          <a:ln w="5080">
            <a:solidFill>
              <a:srgbClr val="334155"/>
            </a:solidFill>
            <a:prstDash val="solid"/>
          </a:ln>
        </p:spPr>
      </p:sp>
      <p:sp>
        <p:nvSpPr>
          <p:cNvPr id="25" name="Shape 22"/>
          <p:cNvSpPr/>
          <p:nvPr/>
        </p:nvSpPr>
        <p:spPr>
          <a:xfrm>
            <a:off x="11064240" y="2103120"/>
            <a:ext cx="0" cy="1188720"/>
          </a:xfrm>
          <a:prstGeom prst="line">
            <a:avLst/>
          </a:prstGeom>
          <a:noFill/>
          <a:ln w="5080">
            <a:solidFill>
              <a:srgbClr val="334155"/>
            </a:solidFill>
            <a:prstDash val="solid"/>
          </a:ln>
        </p:spPr>
      </p:sp>
      <p:sp>
        <p:nvSpPr>
          <p:cNvPr id="26" name="Shape 23"/>
          <p:cNvSpPr/>
          <p:nvPr/>
        </p:nvSpPr>
        <p:spPr>
          <a:xfrm>
            <a:off x="6675120" y="2240280"/>
            <a:ext cx="4389120" cy="0"/>
          </a:xfrm>
          <a:prstGeom prst="line">
            <a:avLst/>
          </a:prstGeom>
          <a:noFill/>
          <a:ln w="5080">
            <a:solidFill>
              <a:srgbClr val="334155"/>
            </a:solidFill>
            <a:prstDash val="solid"/>
          </a:ln>
        </p:spPr>
      </p:sp>
      <p:sp>
        <p:nvSpPr>
          <p:cNvPr id="27" name="Shape 24"/>
          <p:cNvSpPr/>
          <p:nvPr/>
        </p:nvSpPr>
        <p:spPr>
          <a:xfrm>
            <a:off x="6675120" y="2545080"/>
            <a:ext cx="4389120" cy="0"/>
          </a:xfrm>
          <a:prstGeom prst="line">
            <a:avLst/>
          </a:prstGeom>
          <a:noFill/>
          <a:ln w="5080">
            <a:solidFill>
              <a:srgbClr val="334155"/>
            </a:solidFill>
            <a:prstDash val="solid"/>
          </a:ln>
        </p:spPr>
      </p:sp>
      <p:sp>
        <p:nvSpPr>
          <p:cNvPr id="28" name="Shape 25"/>
          <p:cNvSpPr/>
          <p:nvPr/>
        </p:nvSpPr>
        <p:spPr>
          <a:xfrm>
            <a:off x="6675120" y="2849880"/>
            <a:ext cx="4389120" cy="0"/>
          </a:xfrm>
          <a:prstGeom prst="line">
            <a:avLst/>
          </a:prstGeom>
          <a:noFill/>
          <a:ln w="5080">
            <a:solidFill>
              <a:srgbClr val="334155"/>
            </a:solidFill>
            <a:prstDash val="solid"/>
          </a:ln>
        </p:spPr>
        <p:txBody>
          <a:bodyPr/>
          <a:lstStyle/>
          <a:p>
            <a:endParaRPr lang="en-US" dirty="0"/>
          </a:p>
        </p:txBody>
      </p:sp>
      <p:sp>
        <p:nvSpPr>
          <p:cNvPr id="29" name="Shape 26"/>
          <p:cNvSpPr/>
          <p:nvPr/>
        </p:nvSpPr>
        <p:spPr>
          <a:xfrm>
            <a:off x="6675120" y="3154680"/>
            <a:ext cx="4389120" cy="0"/>
          </a:xfrm>
          <a:prstGeom prst="line">
            <a:avLst/>
          </a:prstGeom>
          <a:noFill/>
          <a:ln w="5080">
            <a:solidFill>
              <a:srgbClr val="334155"/>
            </a:solidFill>
            <a:prstDash val="solid"/>
          </a:ln>
        </p:spPr>
      </p:sp>
      <p:sp>
        <p:nvSpPr>
          <p:cNvPr id="30" name="Shape 27"/>
          <p:cNvSpPr/>
          <p:nvPr/>
        </p:nvSpPr>
        <p:spPr>
          <a:xfrm>
            <a:off x="8759952" y="2587752"/>
            <a:ext cx="219456" cy="219456"/>
          </a:xfrm>
          <a:prstGeom prst="ellipse">
            <a:avLst/>
          </a:prstGeom>
          <a:solidFill>
            <a:srgbClr val="06B6D4"/>
          </a:solidFill>
          <a:ln/>
        </p:spPr>
      </p:sp>
      <p:sp>
        <p:nvSpPr>
          <p:cNvPr id="31" name="Shape 28"/>
          <p:cNvSpPr/>
          <p:nvPr/>
        </p:nvSpPr>
        <p:spPr>
          <a:xfrm>
            <a:off x="8814816" y="2642616"/>
            <a:ext cx="109728" cy="109728"/>
          </a:xfrm>
          <a:prstGeom prst="ellipse">
            <a:avLst/>
          </a:prstGeom>
          <a:solidFill>
            <a:srgbClr val="4338CA">
              <a:alpha val="70000"/>
            </a:srgbClr>
          </a:solidFill>
          <a:ln/>
        </p:spPr>
      </p:sp>
      <p:sp>
        <p:nvSpPr>
          <p:cNvPr id="32" name="Shape 29"/>
          <p:cNvSpPr/>
          <p:nvPr/>
        </p:nvSpPr>
        <p:spPr>
          <a:xfrm>
            <a:off x="8650224" y="2679192"/>
            <a:ext cx="109728" cy="109728"/>
          </a:xfrm>
          <a:prstGeom prst="ellipse">
            <a:avLst/>
          </a:prstGeom>
          <a:solidFill>
            <a:srgbClr val="4338CA">
              <a:alpha val="70000"/>
            </a:srgbClr>
          </a:solidFill>
          <a:ln/>
        </p:spPr>
      </p:sp>
      <p:sp>
        <p:nvSpPr>
          <p:cNvPr id="33" name="Shape 30"/>
          <p:cNvSpPr/>
          <p:nvPr/>
        </p:nvSpPr>
        <p:spPr>
          <a:xfrm>
            <a:off x="8485632" y="2715768"/>
            <a:ext cx="109728" cy="109728"/>
          </a:xfrm>
          <a:prstGeom prst="ellipse">
            <a:avLst/>
          </a:prstGeom>
          <a:solidFill>
            <a:srgbClr val="4338CA">
              <a:alpha val="70000"/>
            </a:srgbClr>
          </a:solidFill>
          <a:ln/>
        </p:spPr>
      </p:sp>
      <p:sp>
        <p:nvSpPr>
          <p:cNvPr id="34" name="Shape 31"/>
          <p:cNvSpPr/>
          <p:nvPr/>
        </p:nvSpPr>
        <p:spPr>
          <a:xfrm>
            <a:off x="8321040" y="2752344"/>
            <a:ext cx="109728" cy="109728"/>
          </a:xfrm>
          <a:prstGeom prst="ellipse">
            <a:avLst/>
          </a:prstGeom>
          <a:solidFill>
            <a:srgbClr val="4338CA">
              <a:alpha val="70000"/>
            </a:srgbClr>
          </a:solidFill>
          <a:ln/>
        </p:spPr>
      </p:sp>
      <p:sp>
        <p:nvSpPr>
          <p:cNvPr id="35" name="Shape 32"/>
          <p:cNvSpPr/>
          <p:nvPr/>
        </p:nvSpPr>
        <p:spPr>
          <a:xfrm>
            <a:off x="8156448" y="2788920"/>
            <a:ext cx="109728" cy="109728"/>
          </a:xfrm>
          <a:prstGeom prst="ellipse">
            <a:avLst/>
          </a:prstGeom>
          <a:solidFill>
            <a:srgbClr val="4338CA">
              <a:alpha val="70000"/>
            </a:srgbClr>
          </a:solidFill>
          <a:ln/>
        </p:spPr>
      </p:sp>
      <p:sp>
        <p:nvSpPr>
          <p:cNvPr id="36" name="Shape 33"/>
          <p:cNvSpPr/>
          <p:nvPr/>
        </p:nvSpPr>
        <p:spPr>
          <a:xfrm>
            <a:off x="6492240" y="3566160"/>
            <a:ext cx="292608" cy="292608"/>
          </a:xfrm>
          <a:prstGeom prst="rect">
            <a:avLst/>
          </a:prstGeom>
          <a:solidFill>
            <a:srgbClr val="4338CA"/>
          </a:solidFill>
          <a:ln/>
        </p:spPr>
      </p:sp>
      <p:pic>
        <p:nvPicPr>
          <p:cNvPr id="37" name="Image 1" descr="preencoded.png"/>
          <p:cNvPicPr>
            <a:picLocks noChangeAspect="1"/>
          </p:cNvPicPr>
          <p:nvPr/>
        </p:nvPicPr>
        <p:blipFill>
          <a:blip r:embed="rId4"/>
          <a:stretch>
            <a:fillRect/>
          </a:stretch>
        </p:blipFill>
        <p:spPr>
          <a:xfrm>
            <a:off x="6556614" y="3630534"/>
            <a:ext cx="163860" cy="163860"/>
          </a:xfrm>
          <a:prstGeom prst="rect">
            <a:avLst/>
          </a:prstGeom>
        </p:spPr>
      </p:pic>
      <p:sp>
        <p:nvSpPr>
          <p:cNvPr id="38" name="Text 34"/>
          <p:cNvSpPr/>
          <p:nvPr/>
        </p:nvSpPr>
        <p:spPr>
          <a:xfrm>
            <a:off x="6903720" y="3474720"/>
            <a:ext cx="438912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Cockpit Web</a:t>
            </a:r>
            <a:endParaRPr lang="en-US" sz="1300" dirty="0"/>
          </a:p>
        </p:txBody>
      </p:sp>
      <p:sp>
        <p:nvSpPr>
          <p:cNvPr id="39" name="Text 35"/>
          <p:cNvSpPr/>
          <p:nvPr/>
        </p:nvSpPr>
        <p:spPr>
          <a:xfrm>
            <a:off x="6903720" y="3749040"/>
            <a:ext cx="4389120" cy="22860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Carte top-down + état + plan LLM</a:t>
            </a:r>
            <a:endParaRPr lang="en-US" sz="1000" dirty="0"/>
          </a:p>
        </p:txBody>
      </p:sp>
      <p:sp>
        <p:nvSpPr>
          <p:cNvPr id="40" name="Shape 36"/>
          <p:cNvSpPr/>
          <p:nvPr/>
        </p:nvSpPr>
        <p:spPr>
          <a:xfrm>
            <a:off x="640080" y="4343400"/>
            <a:ext cx="5303520" cy="2377440"/>
          </a:xfrm>
          <a:prstGeom prst="rect">
            <a:avLst/>
          </a:prstGeom>
          <a:solidFill>
            <a:srgbClr val="111827"/>
          </a:solidFill>
          <a:ln w="12700">
            <a:solidFill>
              <a:srgbClr val="1E1B4B"/>
            </a:solidFill>
            <a:prstDash val="solid"/>
          </a:ln>
        </p:spPr>
      </p:sp>
      <p:sp>
        <p:nvSpPr>
          <p:cNvPr id="41" name="Shape 37"/>
          <p:cNvSpPr/>
          <p:nvPr/>
        </p:nvSpPr>
        <p:spPr>
          <a:xfrm>
            <a:off x="640080" y="4343400"/>
            <a:ext cx="73152" cy="2377440"/>
          </a:xfrm>
          <a:prstGeom prst="rect">
            <a:avLst/>
          </a:prstGeom>
          <a:solidFill>
            <a:srgbClr val="06B6D4"/>
          </a:solidFill>
          <a:ln/>
        </p:spPr>
      </p:sp>
      <p:sp>
        <p:nvSpPr>
          <p:cNvPr id="42" name="Shape 38"/>
          <p:cNvSpPr/>
          <p:nvPr/>
        </p:nvSpPr>
        <p:spPr>
          <a:xfrm>
            <a:off x="914400" y="4617720"/>
            <a:ext cx="4754880" cy="1463040"/>
          </a:xfrm>
          <a:prstGeom prst="rect">
            <a:avLst/>
          </a:prstGeom>
          <a:solidFill>
            <a:srgbClr val="1E293B"/>
          </a:solidFill>
          <a:ln/>
        </p:spPr>
      </p:sp>
      <p:sp>
        <p:nvSpPr>
          <p:cNvPr id="43" name="Shape 39"/>
          <p:cNvSpPr/>
          <p:nvPr/>
        </p:nvSpPr>
        <p:spPr>
          <a:xfrm>
            <a:off x="1051560" y="4754880"/>
            <a:ext cx="4480560" cy="1188720"/>
          </a:xfrm>
          <a:prstGeom prst="rect">
            <a:avLst/>
          </a:prstGeom>
          <a:solidFill>
            <a:srgbClr val="0F172A"/>
          </a:solidFill>
          <a:ln/>
        </p:spPr>
      </p:sp>
      <p:sp>
        <p:nvSpPr>
          <p:cNvPr id="44" name="Shape 40"/>
          <p:cNvSpPr/>
          <p:nvPr/>
        </p:nvSpPr>
        <p:spPr>
          <a:xfrm>
            <a:off x="1554480" y="5074920"/>
            <a:ext cx="1097280" cy="914400"/>
          </a:xfrm>
          <a:prstGeom prst="rect">
            <a:avLst/>
          </a:prstGeom>
          <a:ln w="25400">
            <a:solidFill>
              <a:srgbClr val="22C55E"/>
            </a:solidFill>
            <a:prstDash val="solid"/>
          </a:ln>
        </p:spPr>
      </p:sp>
      <p:sp>
        <p:nvSpPr>
          <p:cNvPr id="45" name="Text 41"/>
          <p:cNvSpPr/>
          <p:nvPr/>
        </p:nvSpPr>
        <p:spPr>
          <a:xfrm>
            <a:off x="1554480" y="4910328"/>
            <a:ext cx="1097280" cy="182880"/>
          </a:xfrm>
          <a:prstGeom prst="rect">
            <a:avLst/>
          </a:prstGeom>
          <a:noFill/>
          <a:ln/>
        </p:spPr>
        <p:txBody>
          <a:bodyPr wrap="square" lIns="0" tIns="0" rIns="0" bIns="0" rtlCol="0" anchor="ctr"/>
          <a:lstStyle/>
          <a:p>
            <a:pPr marL="0" indent="0">
              <a:buNone/>
            </a:pPr>
            <a:r>
              <a:rPr lang="en-US" sz="900" b="1" dirty="0">
                <a:solidFill>
                  <a:srgbClr val="22C55E"/>
                </a:solidFill>
                <a:latin typeface="Calibri" pitchFamily="34" charset="0"/>
                <a:ea typeface="Calibri" pitchFamily="34" charset="-122"/>
                <a:cs typeface="Calibri" pitchFamily="34" charset="-120"/>
              </a:rPr>
              <a:t>person 92%</a:t>
            </a:r>
            <a:endParaRPr lang="en-US" sz="900" dirty="0"/>
          </a:p>
        </p:txBody>
      </p:sp>
      <p:sp>
        <p:nvSpPr>
          <p:cNvPr id="46" name="Shape 42"/>
          <p:cNvSpPr/>
          <p:nvPr/>
        </p:nvSpPr>
        <p:spPr>
          <a:xfrm>
            <a:off x="3657600" y="5349240"/>
            <a:ext cx="914400" cy="640080"/>
          </a:xfrm>
          <a:prstGeom prst="rect">
            <a:avLst/>
          </a:prstGeom>
          <a:ln w="25400">
            <a:solidFill>
              <a:srgbClr val="F59E0B"/>
            </a:solidFill>
            <a:prstDash val="solid"/>
          </a:ln>
        </p:spPr>
      </p:sp>
      <p:sp>
        <p:nvSpPr>
          <p:cNvPr id="47" name="Text 43"/>
          <p:cNvSpPr/>
          <p:nvPr/>
        </p:nvSpPr>
        <p:spPr>
          <a:xfrm>
            <a:off x="3657600" y="5184648"/>
            <a:ext cx="914400" cy="182880"/>
          </a:xfrm>
          <a:prstGeom prst="rect">
            <a:avLst/>
          </a:prstGeom>
          <a:noFill/>
          <a:ln/>
        </p:spPr>
        <p:txBody>
          <a:bodyPr wrap="square" lIns="0" tIns="0" rIns="0" bIns="0" rtlCol="0" anchor="ctr"/>
          <a:lstStyle/>
          <a:p>
            <a:pPr marL="0" indent="0">
              <a:buNone/>
            </a:pPr>
            <a:r>
              <a:rPr lang="en-US" sz="900" b="1" dirty="0">
                <a:solidFill>
                  <a:srgbClr val="F59E0B"/>
                </a:solidFill>
                <a:latin typeface="Calibri" pitchFamily="34" charset="0"/>
                <a:ea typeface="Calibri" pitchFamily="34" charset="-122"/>
                <a:cs typeface="Calibri" pitchFamily="34" charset="-120"/>
              </a:rPr>
              <a:t>chair 76%</a:t>
            </a:r>
            <a:endParaRPr lang="en-US" sz="900" dirty="0"/>
          </a:p>
        </p:txBody>
      </p:sp>
      <p:sp>
        <p:nvSpPr>
          <p:cNvPr id="48" name="Text 44"/>
          <p:cNvSpPr/>
          <p:nvPr/>
        </p:nvSpPr>
        <p:spPr>
          <a:xfrm>
            <a:off x="1188720" y="4818888"/>
            <a:ext cx="1828800" cy="182880"/>
          </a:xfrm>
          <a:prstGeom prst="rect">
            <a:avLst/>
          </a:prstGeom>
          <a:noFill/>
          <a:ln/>
        </p:spPr>
        <p:txBody>
          <a:bodyPr wrap="square" lIns="0" tIns="0" rIns="0" bIns="0" rtlCol="0" anchor="ctr"/>
          <a:lstStyle/>
          <a:p>
            <a:pPr marL="0" indent="0">
              <a:buNone/>
            </a:pPr>
            <a:r>
              <a:rPr lang="en-US" sz="900" b="1" dirty="0">
                <a:solidFill>
                  <a:srgbClr val="FFFFFF"/>
                </a:solidFill>
                <a:latin typeface="Calibri" pitchFamily="34" charset="0"/>
                <a:ea typeface="Calibri" pitchFamily="34" charset="-122"/>
                <a:cs typeface="Calibri" pitchFamily="34" charset="-120"/>
              </a:rPr>
              <a:t>detections: 2</a:t>
            </a:r>
            <a:endParaRPr lang="en-US" sz="900" dirty="0"/>
          </a:p>
        </p:txBody>
      </p:sp>
      <p:sp>
        <p:nvSpPr>
          <p:cNvPr id="49" name="Shape 45"/>
          <p:cNvSpPr/>
          <p:nvPr/>
        </p:nvSpPr>
        <p:spPr>
          <a:xfrm>
            <a:off x="914400" y="6217920"/>
            <a:ext cx="292608" cy="292608"/>
          </a:xfrm>
          <a:prstGeom prst="rect">
            <a:avLst/>
          </a:prstGeom>
          <a:solidFill>
            <a:srgbClr val="4338CA"/>
          </a:solidFill>
          <a:ln/>
        </p:spPr>
      </p:sp>
      <p:pic>
        <p:nvPicPr>
          <p:cNvPr id="50" name="Image 2" descr="preencoded.png"/>
          <p:cNvPicPr>
            <a:picLocks noChangeAspect="1"/>
          </p:cNvPicPr>
          <p:nvPr/>
        </p:nvPicPr>
        <p:blipFill>
          <a:blip r:embed="rId5"/>
          <a:stretch>
            <a:fillRect/>
          </a:stretch>
        </p:blipFill>
        <p:spPr>
          <a:xfrm>
            <a:off x="978774" y="6282294"/>
            <a:ext cx="163860" cy="163860"/>
          </a:xfrm>
          <a:prstGeom prst="rect">
            <a:avLst/>
          </a:prstGeom>
        </p:spPr>
      </p:pic>
      <p:sp>
        <p:nvSpPr>
          <p:cNvPr id="51" name="Text 46"/>
          <p:cNvSpPr/>
          <p:nvPr/>
        </p:nvSpPr>
        <p:spPr>
          <a:xfrm>
            <a:off x="1325880" y="6126480"/>
            <a:ext cx="438912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YOLO Live</a:t>
            </a:r>
            <a:endParaRPr lang="en-US" sz="1300" dirty="0"/>
          </a:p>
        </p:txBody>
      </p:sp>
      <p:sp>
        <p:nvSpPr>
          <p:cNvPr id="52" name="Text 47"/>
          <p:cNvSpPr/>
          <p:nvPr/>
        </p:nvSpPr>
        <p:spPr>
          <a:xfrm>
            <a:off x="1325880" y="6400800"/>
            <a:ext cx="4389120" cy="22860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Détection temps réel sur flux Tello</a:t>
            </a:r>
            <a:endParaRPr lang="en-US" sz="1000" dirty="0"/>
          </a:p>
        </p:txBody>
      </p:sp>
      <p:sp>
        <p:nvSpPr>
          <p:cNvPr id="53" name="Shape 48"/>
          <p:cNvSpPr/>
          <p:nvPr/>
        </p:nvSpPr>
        <p:spPr>
          <a:xfrm>
            <a:off x="6217920" y="4343400"/>
            <a:ext cx="5303520" cy="2377440"/>
          </a:xfrm>
          <a:prstGeom prst="rect">
            <a:avLst/>
          </a:prstGeom>
          <a:solidFill>
            <a:srgbClr val="111827"/>
          </a:solidFill>
          <a:ln w="12700">
            <a:solidFill>
              <a:srgbClr val="1E1B4B"/>
            </a:solidFill>
            <a:prstDash val="solid"/>
          </a:ln>
        </p:spPr>
      </p:sp>
      <p:sp>
        <p:nvSpPr>
          <p:cNvPr id="54" name="Shape 49"/>
          <p:cNvSpPr/>
          <p:nvPr/>
        </p:nvSpPr>
        <p:spPr>
          <a:xfrm>
            <a:off x="6217920" y="4343400"/>
            <a:ext cx="73152" cy="2377440"/>
          </a:xfrm>
          <a:prstGeom prst="rect">
            <a:avLst/>
          </a:prstGeom>
          <a:solidFill>
            <a:srgbClr val="06B6D4"/>
          </a:solidFill>
          <a:ln/>
        </p:spPr>
      </p:sp>
      <p:sp>
        <p:nvSpPr>
          <p:cNvPr id="55" name="Shape 50"/>
          <p:cNvSpPr/>
          <p:nvPr/>
        </p:nvSpPr>
        <p:spPr>
          <a:xfrm>
            <a:off x="6492240" y="4617720"/>
            <a:ext cx="4754880" cy="1463040"/>
          </a:xfrm>
          <a:prstGeom prst="rect">
            <a:avLst/>
          </a:prstGeom>
          <a:solidFill>
            <a:srgbClr val="1E293B"/>
          </a:solidFill>
          <a:ln/>
        </p:spPr>
      </p:sp>
      <p:sp>
        <p:nvSpPr>
          <p:cNvPr id="56" name="Shape 51"/>
          <p:cNvSpPr/>
          <p:nvPr/>
        </p:nvSpPr>
        <p:spPr>
          <a:xfrm>
            <a:off x="6629400" y="4754880"/>
            <a:ext cx="4480560" cy="1188720"/>
          </a:xfrm>
          <a:prstGeom prst="rect">
            <a:avLst/>
          </a:prstGeom>
          <a:solidFill>
            <a:srgbClr val="0F172A"/>
          </a:solidFill>
          <a:ln w="38100">
            <a:solidFill>
              <a:srgbClr val="EF4444"/>
            </a:solidFill>
            <a:prstDash val="solid"/>
          </a:ln>
        </p:spPr>
      </p:sp>
      <p:sp>
        <p:nvSpPr>
          <p:cNvPr id="57" name="Shape 52"/>
          <p:cNvSpPr/>
          <p:nvPr/>
        </p:nvSpPr>
        <p:spPr>
          <a:xfrm>
            <a:off x="7863840" y="4983480"/>
            <a:ext cx="2011680" cy="320040"/>
          </a:xfrm>
          <a:prstGeom prst="rect">
            <a:avLst/>
          </a:prstGeom>
          <a:solidFill>
            <a:srgbClr val="EF4444"/>
          </a:solidFill>
          <a:ln/>
        </p:spPr>
      </p:sp>
      <p:sp>
        <p:nvSpPr>
          <p:cNvPr id="58" name="Text 53"/>
          <p:cNvSpPr/>
          <p:nvPr/>
        </p:nvSpPr>
        <p:spPr>
          <a:xfrm>
            <a:off x="7863840" y="4983480"/>
            <a:ext cx="201168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 OBSTACLE DÉTECTÉ</a:t>
            </a:r>
            <a:endParaRPr lang="en-US" sz="1000" dirty="0"/>
          </a:p>
        </p:txBody>
      </p:sp>
      <p:sp>
        <p:nvSpPr>
          <p:cNvPr id="59" name="Shape 54"/>
          <p:cNvSpPr/>
          <p:nvPr/>
        </p:nvSpPr>
        <p:spPr>
          <a:xfrm>
            <a:off x="8229600" y="5532120"/>
            <a:ext cx="1280160" cy="822960"/>
          </a:xfrm>
          <a:prstGeom prst="rect">
            <a:avLst/>
          </a:prstGeom>
          <a:ln w="25400">
            <a:solidFill>
              <a:srgbClr val="EF4444"/>
            </a:solidFill>
            <a:prstDash val="solid"/>
          </a:ln>
        </p:spPr>
      </p:sp>
      <p:sp>
        <p:nvSpPr>
          <p:cNvPr id="60" name="Text 55"/>
          <p:cNvSpPr/>
          <p:nvPr/>
        </p:nvSpPr>
        <p:spPr>
          <a:xfrm>
            <a:off x="8229600" y="5367528"/>
            <a:ext cx="1280160" cy="182880"/>
          </a:xfrm>
          <a:prstGeom prst="rect">
            <a:avLst/>
          </a:prstGeom>
          <a:noFill/>
          <a:ln/>
        </p:spPr>
        <p:txBody>
          <a:bodyPr wrap="square" lIns="0" tIns="0" rIns="0" bIns="0" rtlCol="0" anchor="ctr"/>
          <a:lstStyle/>
          <a:p>
            <a:pPr marL="0" indent="0" algn="l">
              <a:buNone/>
            </a:pPr>
            <a:r>
              <a:rPr lang="en-US" sz="900" b="1" dirty="0">
                <a:solidFill>
                  <a:srgbClr val="EF4444"/>
                </a:solidFill>
                <a:latin typeface="Calibri" pitchFamily="34" charset="0"/>
                <a:ea typeface="Calibri" pitchFamily="34" charset="-122"/>
                <a:cs typeface="Calibri" pitchFamily="34" charset="-120"/>
              </a:rPr>
              <a:t>person 95%</a:t>
            </a:r>
            <a:endParaRPr lang="en-US" sz="900" dirty="0"/>
          </a:p>
        </p:txBody>
      </p:sp>
      <p:sp>
        <p:nvSpPr>
          <p:cNvPr id="61" name="Shape 56"/>
          <p:cNvSpPr/>
          <p:nvPr/>
        </p:nvSpPr>
        <p:spPr>
          <a:xfrm>
            <a:off x="6492240" y="6217920"/>
            <a:ext cx="292608" cy="292608"/>
          </a:xfrm>
          <a:prstGeom prst="rect">
            <a:avLst/>
          </a:prstGeom>
          <a:solidFill>
            <a:srgbClr val="4338CA"/>
          </a:solidFill>
          <a:ln/>
        </p:spPr>
      </p:sp>
      <p:pic>
        <p:nvPicPr>
          <p:cNvPr id="62" name="Image 3" descr="preencoded.png"/>
          <p:cNvPicPr>
            <a:picLocks noChangeAspect="1"/>
          </p:cNvPicPr>
          <p:nvPr/>
        </p:nvPicPr>
        <p:blipFill>
          <a:blip r:embed="rId6"/>
          <a:stretch>
            <a:fillRect/>
          </a:stretch>
        </p:blipFill>
        <p:spPr>
          <a:xfrm>
            <a:off x="6556614" y="6282294"/>
            <a:ext cx="163860" cy="163860"/>
          </a:xfrm>
          <a:prstGeom prst="rect">
            <a:avLst/>
          </a:prstGeom>
        </p:spPr>
      </p:pic>
      <p:sp>
        <p:nvSpPr>
          <p:cNvPr id="63" name="Text 57"/>
          <p:cNvSpPr/>
          <p:nvPr/>
        </p:nvSpPr>
        <p:spPr>
          <a:xfrm>
            <a:off x="6903720" y="6126480"/>
            <a:ext cx="438912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Évitement</a:t>
            </a:r>
            <a:endParaRPr lang="en-US" sz="1300" dirty="0"/>
          </a:p>
        </p:txBody>
      </p:sp>
      <p:sp>
        <p:nvSpPr>
          <p:cNvPr id="64" name="Text 58"/>
          <p:cNvSpPr/>
          <p:nvPr/>
        </p:nvSpPr>
        <p:spPr>
          <a:xfrm>
            <a:off x="6903720" y="6400800"/>
            <a:ext cx="4389120" cy="228600"/>
          </a:xfrm>
          <a:prstGeom prst="rect">
            <a:avLst/>
          </a:prstGeom>
          <a:noFill/>
          <a:ln/>
        </p:spPr>
        <p:txBody>
          <a:bodyPr wrap="square" lIns="0" tIns="0" rIns="0" bIns="0" rtlCol="0" anchor="ctr"/>
          <a:lstStyle/>
          <a:p>
            <a:pPr marL="0" indent="0">
              <a:buNone/>
            </a:pPr>
            <a:r>
              <a:rPr lang="en-US" sz="1000" dirty="0">
                <a:solidFill>
                  <a:srgbClr val="94A3B8"/>
                </a:solidFill>
                <a:latin typeface="Calibri" pitchFamily="34" charset="0"/>
                <a:ea typeface="Calibri" pitchFamily="34" charset="-122"/>
                <a:cs typeface="Calibri" pitchFamily="34" charset="-120"/>
              </a:rPr>
              <a:t>Refus automatique d'un ordre dangereux</a:t>
            </a:r>
            <a:endParaRPr lang="en-US" sz="1000" dirty="0"/>
          </a:p>
        </p:txBody>
      </p:sp>
      <p:sp>
        <p:nvSpPr>
          <p:cNvPr id="65" name="Text 59"/>
          <p:cNvSpPr/>
          <p:nvPr/>
        </p:nvSpPr>
        <p:spPr>
          <a:xfrm>
            <a:off x="10881360" y="6473952"/>
            <a:ext cx="914400" cy="274320"/>
          </a:xfrm>
          <a:prstGeom prst="rect">
            <a:avLst/>
          </a:prstGeom>
          <a:noFill/>
          <a:ln/>
        </p:spPr>
        <p:txBody>
          <a:bodyPr wrap="square" lIns="0" tIns="0" rIns="0" bIns="0" rtlCol="0" anchor="ctr"/>
          <a:lstStyle/>
          <a:p>
            <a:pPr marL="0" indent="0" algn="r">
              <a:buNone/>
            </a:pPr>
            <a:r>
              <a:rPr lang="en-US" sz="900" kern="0" spc="400" dirty="0">
                <a:solidFill>
                  <a:srgbClr val="94A3B8"/>
                </a:solidFill>
                <a:latin typeface="Calibri" pitchFamily="34" charset="0"/>
                <a:ea typeface="Calibri" pitchFamily="34" charset="-122"/>
                <a:cs typeface="Calibri" pitchFamily="34" charset="-120"/>
              </a:rPr>
              <a:t>06 / 09</a:t>
            </a:r>
            <a:endParaRPr lang="en-US" sz="900" dirty="0"/>
          </a:p>
        </p:txBody>
      </p:sp>
      <p:sp>
        <p:nvSpPr>
          <p:cNvPr id="66" name="Text 60"/>
          <p:cNvSpPr/>
          <p:nvPr/>
        </p:nvSpPr>
        <p:spPr>
          <a:xfrm>
            <a:off x="457200" y="6473952"/>
            <a:ext cx="1828800" cy="274320"/>
          </a:xfrm>
          <a:prstGeom prst="rect">
            <a:avLst/>
          </a:prstGeom>
          <a:noFill/>
          <a:ln/>
        </p:spPr>
        <p:txBody>
          <a:bodyPr wrap="square" lIns="0" tIns="0" rIns="0" bIns="0" rtlCol="0" anchor="ctr"/>
          <a:lstStyle/>
          <a:p>
            <a:pPr marL="0" indent="0" algn="l">
              <a:buNone/>
            </a:pPr>
            <a:r>
              <a:rPr lang="en-US" sz="900" b="1" kern="0" spc="600" dirty="0">
                <a:solidFill>
                  <a:srgbClr val="E0E7FF"/>
                </a:solidFill>
                <a:latin typeface="Calibri" pitchFamily="34" charset="0"/>
                <a:ea typeface="Calibri" pitchFamily="34" charset="-122"/>
                <a:cs typeface="Calibri" pitchFamily="34" charset="-120"/>
              </a:rPr>
              <a:t>AI-R</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457200" y="502920"/>
            <a:ext cx="73152" cy="640080"/>
          </a:xfrm>
          <a:prstGeom prst="rect">
            <a:avLst/>
          </a:prstGeom>
          <a:solidFill>
            <a:srgbClr val="06B6D4"/>
          </a:solidFill>
          <a:ln/>
        </p:spPr>
      </p:sp>
      <p:sp>
        <p:nvSpPr>
          <p:cNvPr id="3" name="Text 1"/>
          <p:cNvSpPr/>
          <p:nvPr/>
        </p:nvSpPr>
        <p:spPr>
          <a:xfrm>
            <a:off x="731520" y="450044"/>
            <a:ext cx="10789920" cy="731520"/>
          </a:xfrm>
          <a:prstGeom prst="rect">
            <a:avLst/>
          </a:prstGeom>
          <a:noFill/>
          <a:ln/>
        </p:spPr>
        <p:txBody>
          <a:bodyPr wrap="square" lIns="0" tIns="0" rIns="0" bIns="0" rtlCol="0" anchor="ctr"/>
          <a:lstStyle/>
          <a:p>
            <a:pPr marL="0" indent="0" algn="l">
              <a:buNone/>
            </a:pPr>
            <a:r>
              <a:rPr lang="en-US" sz="3200" b="1" dirty="0">
                <a:solidFill>
                  <a:srgbClr val="1E293B"/>
                </a:solidFill>
                <a:latin typeface="Calibri" pitchFamily="34" charset="0"/>
                <a:ea typeface="Calibri" pitchFamily="34" charset="-122"/>
                <a:cs typeface="Calibri" pitchFamily="34" charset="-120"/>
              </a:rPr>
              <a:t>Future de AI-R</a:t>
            </a:r>
            <a:endParaRPr lang="en-US" sz="3200" dirty="0"/>
          </a:p>
        </p:txBody>
      </p:sp>
      <p:sp>
        <p:nvSpPr>
          <p:cNvPr id="4" name="Text 2"/>
          <p:cNvSpPr/>
          <p:nvPr/>
        </p:nvSpPr>
        <p:spPr>
          <a:xfrm>
            <a:off x="731520" y="1216550"/>
            <a:ext cx="9144000" cy="365760"/>
          </a:xfrm>
          <a:prstGeom prst="rect">
            <a:avLst/>
          </a:prstGeom>
          <a:noFill/>
          <a:ln/>
        </p:spPr>
        <p:txBody>
          <a:bodyPr wrap="square" lIns="0" tIns="0" rIns="0" bIns="0" rtlCol="0" anchor="ctr"/>
          <a:lstStyle/>
          <a:p>
            <a:pPr marL="0" indent="0">
              <a:buNone/>
            </a:pPr>
            <a:r>
              <a:rPr lang="fr-FR" sz="1300" dirty="0"/>
              <a:t>Nos perspectives d’avenir</a:t>
            </a:r>
            <a:endParaRPr lang="en-US" sz="1300" dirty="0"/>
          </a:p>
        </p:txBody>
      </p:sp>
      <p:sp>
        <p:nvSpPr>
          <p:cNvPr id="5" name="Shape 3"/>
          <p:cNvSpPr/>
          <p:nvPr/>
        </p:nvSpPr>
        <p:spPr>
          <a:xfrm>
            <a:off x="1760220" y="2212848"/>
            <a:ext cx="8641080" cy="0"/>
          </a:xfrm>
          <a:prstGeom prst="line">
            <a:avLst/>
          </a:prstGeom>
          <a:noFill/>
          <a:ln w="25400">
            <a:solidFill>
              <a:srgbClr val="E2E8F0"/>
            </a:solidFill>
            <a:prstDash val="dash"/>
          </a:ln>
        </p:spPr>
      </p:sp>
      <p:sp>
        <p:nvSpPr>
          <p:cNvPr id="6" name="Shape 4"/>
          <p:cNvSpPr/>
          <p:nvPr/>
        </p:nvSpPr>
        <p:spPr>
          <a:xfrm>
            <a:off x="1732788" y="1828800"/>
            <a:ext cx="54864" cy="320040"/>
          </a:xfrm>
          <a:prstGeom prst="rect">
            <a:avLst/>
          </a:prstGeom>
          <a:solidFill>
            <a:srgbClr val="06B6D4"/>
          </a:solidFill>
          <a:ln/>
        </p:spPr>
      </p:sp>
      <p:sp>
        <p:nvSpPr>
          <p:cNvPr id="7" name="Shape 5"/>
          <p:cNvSpPr/>
          <p:nvPr/>
        </p:nvSpPr>
        <p:spPr>
          <a:xfrm>
            <a:off x="1650492" y="2103120"/>
            <a:ext cx="219456" cy="219456"/>
          </a:xfrm>
          <a:prstGeom prst="ellipse">
            <a:avLst/>
          </a:prstGeom>
          <a:solidFill>
            <a:srgbClr val="06B6D4"/>
          </a:solidFill>
          <a:ln w="38100">
            <a:solidFill>
              <a:srgbClr val="F8FAFC"/>
            </a:solidFill>
            <a:prstDash val="solid"/>
          </a:ln>
        </p:spPr>
      </p:sp>
      <p:sp>
        <p:nvSpPr>
          <p:cNvPr id="8" name="Shape 6"/>
          <p:cNvSpPr/>
          <p:nvPr/>
        </p:nvSpPr>
        <p:spPr>
          <a:xfrm>
            <a:off x="411480" y="2423160"/>
            <a:ext cx="2697480" cy="3246120"/>
          </a:xfrm>
          <a:prstGeom prst="rect">
            <a:avLst/>
          </a:prstGeom>
          <a:solidFill>
            <a:srgbClr val="FFFFFF"/>
          </a:solidFill>
          <a:ln w="12700">
            <a:solidFill>
              <a:srgbClr val="E2E8F0"/>
            </a:solidFill>
            <a:prstDash val="solid"/>
          </a:ln>
          <a:effectLst>
            <a:outerShdw blurRad="101600" dist="25400" dir="5400000" algn="bl" rotWithShape="0">
              <a:srgbClr val="0F172A">
                <a:alpha val="5000"/>
              </a:srgbClr>
            </a:outerShdw>
          </a:effectLst>
        </p:spPr>
        <p:txBody>
          <a:bodyPr/>
          <a:lstStyle/>
          <a:p>
            <a:endParaRPr lang="en-US"/>
          </a:p>
        </p:txBody>
      </p:sp>
      <p:sp>
        <p:nvSpPr>
          <p:cNvPr id="9" name="Text 7"/>
          <p:cNvSpPr/>
          <p:nvPr/>
        </p:nvSpPr>
        <p:spPr>
          <a:xfrm>
            <a:off x="640080" y="2606040"/>
            <a:ext cx="2240280" cy="274320"/>
          </a:xfrm>
          <a:prstGeom prst="rect">
            <a:avLst/>
          </a:prstGeom>
          <a:noFill/>
          <a:ln/>
        </p:spPr>
        <p:txBody>
          <a:bodyPr wrap="square" lIns="0" tIns="0" rIns="0" bIns="0" rtlCol="0" anchor="ctr"/>
          <a:lstStyle/>
          <a:p>
            <a:pPr marL="0" indent="0">
              <a:buNone/>
            </a:pPr>
            <a:r>
              <a:rPr lang="en-US" sz="1100" b="1" kern="0" spc="600" dirty="0">
                <a:solidFill>
                  <a:srgbClr val="06B6D4"/>
                </a:solidFill>
                <a:latin typeface="Calibri" pitchFamily="34" charset="0"/>
                <a:ea typeface="Calibri" pitchFamily="34" charset="-122"/>
                <a:cs typeface="Calibri" pitchFamily="34" charset="-120"/>
              </a:rPr>
              <a:t>Q2 2026</a:t>
            </a:r>
            <a:endParaRPr lang="en-US" sz="1100" dirty="0"/>
          </a:p>
        </p:txBody>
      </p:sp>
      <p:sp>
        <p:nvSpPr>
          <p:cNvPr id="10" name="Shape 8"/>
          <p:cNvSpPr/>
          <p:nvPr/>
        </p:nvSpPr>
        <p:spPr>
          <a:xfrm>
            <a:off x="640080" y="2926080"/>
            <a:ext cx="640080" cy="640080"/>
          </a:xfrm>
          <a:prstGeom prst="rect">
            <a:avLst/>
          </a:prstGeom>
          <a:solidFill>
            <a:srgbClr val="E0E7FF"/>
          </a:solidFill>
          <a:ln/>
        </p:spPr>
      </p:sp>
      <p:pic>
        <p:nvPicPr>
          <p:cNvPr id="11" name="Image 0" descr="preencoded.png"/>
          <p:cNvPicPr>
            <a:picLocks noChangeAspect="1"/>
          </p:cNvPicPr>
          <p:nvPr/>
        </p:nvPicPr>
        <p:blipFill>
          <a:blip r:embed="rId3"/>
          <a:stretch>
            <a:fillRect/>
          </a:stretch>
        </p:blipFill>
        <p:spPr>
          <a:xfrm>
            <a:off x="780898" y="3066898"/>
            <a:ext cx="358445" cy="358445"/>
          </a:xfrm>
          <a:prstGeom prst="rect">
            <a:avLst/>
          </a:prstGeom>
        </p:spPr>
      </p:pic>
      <p:sp>
        <p:nvSpPr>
          <p:cNvPr id="12" name="Text 9"/>
          <p:cNvSpPr/>
          <p:nvPr/>
        </p:nvSpPr>
        <p:spPr>
          <a:xfrm>
            <a:off x="640080" y="3657600"/>
            <a:ext cx="2240280" cy="457200"/>
          </a:xfrm>
          <a:prstGeom prst="rect">
            <a:avLst/>
          </a:prstGeom>
          <a:noFill/>
          <a:ln/>
        </p:spPr>
        <p:txBody>
          <a:bodyPr wrap="square" lIns="0" tIns="0" rIns="0" bIns="0"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Agent itératif</a:t>
            </a:r>
            <a:endParaRPr lang="en-US" sz="1600" dirty="0"/>
          </a:p>
        </p:txBody>
      </p:sp>
      <p:sp>
        <p:nvSpPr>
          <p:cNvPr id="13" name="Text 10"/>
          <p:cNvSpPr/>
          <p:nvPr/>
        </p:nvSpPr>
        <p:spPr>
          <a:xfrm>
            <a:off x="640080" y="4160520"/>
            <a:ext cx="2240280" cy="118872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Boucle LLM ↔ vision — pour gérer 'va voir derrière ce bâtiment'.</a:t>
            </a:r>
            <a:endParaRPr lang="en-US" sz="1100" dirty="0"/>
          </a:p>
        </p:txBody>
      </p:sp>
      <p:sp>
        <p:nvSpPr>
          <p:cNvPr id="14" name="Shape 11"/>
          <p:cNvSpPr/>
          <p:nvPr/>
        </p:nvSpPr>
        <p:spPr>
          <a:xfrm>
            <a:off x="4613148" y="1828800"/>
            <a:ext cx="54864" cy="320040"/>
          </a:xfrm>
          <a:prstGeom prst="rect">
            <a:avLst/>
          </a:prstGeom>
          <a:solidFill>
            <a:srgbClr val="06B6D4"/>
          </a:solidFill>
          <a:ln/>
        </p:spPr>
      </p:sp>
      <p:sp>
        <p:nvSpPr>
          <p:cNvPr id="15" name="Shape 12"/>
          <p:cNvSpPr/>
          <p:nvPr/>
        </p:nvSpPr>
        <p:spPr>
          <a:xfrm>
            <a:off x="4530852" y="2103120"/>
            <a:ext cx="219456" cy="219456"/>
          </a:xfrm>
          <a:prstGeom prst="ellipse">
            <a:avLst/>
          </a:prstGeom>
          <a:solidFill>
            <a:srgbClr val="06B6D4"/>
          </a:solidFill>
          <a:ln w="38100">
            <a:solidFill>
              <a:srgbClr val="F8FAFC"/>
            </a:solidFill>
            <a:prstDash val="solid"/>
          </a:ln>
        </p:spPr>
      </p:sp>
      <p:sp>
        <p:nvSpPr>
          <p:cNvPr id="16" name="Shape 13"/>
          <p:cNvSpPr/>
          <p:nvPr/>
        </p:nvSpPr>
        <p:spPr>
          <a:xfrm>
            <a:off x="3291840" y="2423160"/>
            <a:ext cx="2697480" cy="3246120"/>
          </a:xfrm>
          <a:prstGeom prst="rect">
            <a:avLst/>
          </a:prstGeom>
          <a:solidFill>
            <a:srgbClr val="FFFFFF"/>
          </a:solidFill>
          <a:ln w="12700">
            <a:solidFill>
              <a:srgbClr val="E2E8F0"/>
            </a:solidFill>
            <a:prstDash val="solid"/>
          </a:ln>
          <a:effectLst>
            <a:outerShdw blurRad="101600" dist="25400" dir="5400000" algn="bl" rotWithShape="0">
              <a:srgbClr val="0F172A">
                <a:alpha val="5000"/>
              </a:srgbClr>
            </a:outerShdw>
          </a:effectLst>
        </p:spPr>
      </p:sp>
      <p:sp>
        <p:nvSpPr>
          <p:cNvPr id="17" name="Text 14"/>
          <p:cNvSpPr/>
          <p:nvPr/>
        </p:nvSpPr>
        <p:spPr>
          <a:xfrm>
            <a:off x="3520440" y="2606040"/>
            <a:ext cx="2240280" cy="274320"/>
          </a:xfrm>
          <a:prstGeom prst="rect">
            <a:avLst/>
          </a:prstGeom>
          <a:noFill/>
          <a:ln/>
        </p:spPr>
        <p:txBody>
          <a:bodyPr wrap="square" lIns="0" tIns="0" rIns="0" bIns="0" rtlCol="0" anchor="ctr"/>
          <a:lstStyle/>
          <a:p>
            <a:pPr marL="0" indent="0">
              <a:buNone/>
            </a:pPr>
            <a:r>
              <a:rPr lang="en-US" sz="1100" b="1" kern="0" spc="600" dirty="0">
                <a:solidFill>
                  <a:srgbClr val="06B6D4"/>
                </a:solidFill>
                <a:latin typeface="Calibri" pitchFamily="34" charset="0"/>
                <a:ea typeface="Calibri" pitchFamily="34" charset="-122"/>
                <a:cs typeface="Calibri" pitchFamily="34" charset="-120"/>
              </a:rPr>
              <a:t>Q3 2026</a:t>
            </a:r>
            <a:endParaRPr lang="en-US" sz="1100" dirty="0"/>
          </a:p>
        </p:txBody>
      </p:sp>
      <p:sp>
        <p:nvSpPr>
          <p:cNvPr id="18" name="Shape 15"/>
          <p:cNvSpPr/>
          <p:nvPr/>
        </p:nvSpPr>
        <p:spPr>
          <a:xfrm>
            <a:off x="3520440" y="2926080"/>
            <a:ext cx="640080" cy="640080"/>
          </a:xfrm>
          <a:prstGeom prst="rect">
            <a:avLst/>
          </a:prstGeom>
          <a:solidFill>
            <a:srgbClr val="E0E7FF"/>
          </a:solidFill>
          <a:ln/>
        </p:spPr>
      </p:sp>
      <p:pic>
        <p:nvPicPr>
          <p:cNvPr id="19" name="Image 1" descr="preencoded.png"/>
          <p:cNvPicPr>
            <a:picLocks noChangeAspect="1"/>
          </p:cNvPicPr>
          <p:nvPr/>
        </p:nvPicPr>
        <p:blipFill>
          <a:blip r:embed="rId4"/>
          <a:stretch>
            <a:fillRect/>
          </a:stretch>
        </p:blipFill>
        <p:spPr>
          <a:xfrm>
            <a:off x="3661258" y="3066898"/>
            <a:ext cx="358445" cy="358445"/>
          </a:xfrm>
          <a:prstGeom prst="rect">
            <a:avLst/>
          </a:prstGeom>
        </p:spPr>
      </p:pic>
      <p:sp>
        <p:nvSpPr>
          <p:cNvPr id="20" name="Text 16"/>
          <p:cNvSpPr/>
          <p:nvPr/>
        </p:nvSpPr>
        <p:spPr>
          <a:xfrm>
            <a:off x="3520440" y="3657600"/>
            <a:ext cx="2240280" cy="457200"/>
          </a:xfrm>
          <a:prstGeom prst="rect">
            <a:avLst/>
          </a:prstGeom>
          <a:noFill/>
          <a:ln/>
        </p:spPr>
        <p:txBody>
          <a:bodyPr wrap="square" lIns="0" tIns="0" rIns="0" bIns="0"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Multi-drones</a:t>
            </a:r>
            <a:endParaRPr lang="en-US" sz="1600" dirty="0"/>
          </a:p>
        </p:txBody>
      </p:sp>
      <p:sp>
        <p:nvSpPr>
          <p:cNvPr id="21" name="Text 17"/>
          <p:cNvSpPr/>
          <p:nvPr/>
        </p:nvSpPr>
        <p:spPr>
          <a:xfrm>
            <a:off x="3520440" y="4160520"/>
            <a:ext cx="2240280" cy="118872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Pilotage en essaim (swarm), partage de carte entre drones.</a:t>
            </a:r>
            <a:endParaRPr lang="en-US" sz="1100" dirty="0"/>
          </a:p>
        </p:txBody>
      </p:sp>
      <p:sp>
        <p:nvSpPr>
          <p:cNvPr id="22" name="Shape 18"/>
          <p:cNvSpPr/>
          <p:nvPr/>
        </p:nvSpPr>
        <p:spPr>
          <a:xfrm>
            <a:off x="7493508" y="1828800"/>
            <a:ext cx="54864" cy="320040"/>
          </a:xfrm>
          <a:prstGeom prst="rect">
            <a:avLst/>
          </a:prstGeom>
          <a:solidFill>
            <a:srgbClr val="06B6D4"/>
          </a:solidFill>
          <a:ln/>
        </p:spPr>
      </p:sp>
      <p:sp>
        <p:nvSpPr>
          <p:cNvPr id="23" name="Shape 19"/>
          <p:cNvSpPr/>
          <p:nvPr/>
        </p:nvSpPr>
        <p:spPr>
          <a:xfrm>
            <a:off x="7411212" y="2103120"/>
            <a:ext cx="219456" cy="219456"/>
          </a:xfrm>
          <a:prstGeom prst="ellipse">
            <a:avLst/>
          </a:prstGeom>
          <a:solidFill>
            <a:srgbClr val="06B6D4"/>
          </a:solidFill>
          <a:ln w="38100">
            <a:solidFill>
              <a:srgbClr val="F8FAFC"/>
            </a:solidFill>
            <a:prstDash val="solid"/>
          </a:ln>
        </p:spPr>
      </p:sp>
      <p:sp>
        <p:nvSpPr>
          <p:cNvPr id="24" name="Shape 20"/>
          <p:cNvSpPr/>
          <p:nvPr/>
        </p:nvSpPr>
        <p:spPr>
          <a:xfrm>
            <a:off x="6172200" y="2423160"/>
            <a:ext cx="2697480" cy="3246120"/>
          </a:xfrm>
          <a:prstGeom prst="rect">
            <a:avLst/>
          </a:prstGeom>
          <a:solidFill>
            <a:srgbClr val="FFFFFF"/>
          </a:solidFill>
          <a:ln w="12700">
            <a:solidFill>
              <a:srgbClr val="E2E8F0"/>
            </a:solidFill>
            <a:prstDash val="solid"/>
          </a:ln>
          <a:effectLst>
            <a:outerShdw blurRad="101600" dist="25400" dir="5400000" algn="bl" rotWithShape="0">
              <a:srgbClr val="0F172A">
                <a:alpha val="5000"/>
              </a:srgbClr>
            </a:outerShdw>
          </a:effectLst>
        </p:spPr>
      </p:sp>
      <p:sp>
        <p:nvSpPr>
          <p:cNvPr id="25" name="Text 21"/>
          <p:cNvSpPr/>
          <p:nvPr/>
        </p:nvSpPr>
        <p:spPr>
          <a:xfrm>
            <a:off x="6400800" y="2606040"/>
            <a:ext cx="2240280" cy="274320"/>
          </a:xfrm>
          <a:prstGeom prst="rect">
            <a:avLst/>
          </a:prstGeom>
          <a:noFill/>
          <a:ln/>
        </p:spPr>
        <p:txBody>
          <a:bodyPr wrap="square" lIns="0" tIns="0" rIns="0" bIns="0" rtlCol="0" anchor="ctr"/>
          <a:lstStyle/>
          <a:p>
            <a:pPr marL="0" indent="0">
              <a:buNone/>
            </a:pPr>
            <a:r>
              <a:rPr lang="en-US" sz="1100" b="1" kern="0" spc="600" dirty="0">
                <a:solidFill>
                  <a:srgbClr val="06B6D4"/>
                </a:solidFill>
                <a:latin typeface="Calibri" pitchFamily="34" charset="0"/>
                <a:ea typeface="Calibri" pitchFamily="34" charset="-122"/>
                <a:cs typeface="Calibri" pitchFamily="34" charset="-120"/>
              </a:rPr>
              <a:t>Q4 2026</a:t>
            </a:r>
            <a:endParaRPr lang="en-US" sz="1100" dirty="0"/>
          </a:p>
        </p:txBody>
      </p:sp>
      <p:sp>
        <p:nvSpPr>
          <p:cNvPr id="26" name="Shape 22"/>
          <p:cNvSpPr/>
          <p:nvPr/>
        </p:nvSpPr>
        <p:spPr>
          <a:xfrm>
            <a:off x="6400800" y="2926080"/>
            <a:ext cx="640080" cy="640080"/>
          </a:xfrm>
          <a:prstGeom prst="rect">
            <a:avLst/>
          </a:prstGeom>
          <a:solidFill>
            <a:srgbClr val="E0E7FF"/>
          </a:solidFill>
          <a:ln/>
        </p:spPr>
      </p:sp>
      <p:pic>
        <p:nvPicPr>
          <p:cNvPr id="27" name="Image 2" descr="preencoded.png"/>
          <p:cNvPicPr>
            <a:picLocks noChangeAspect="1"/>
          </p:cNvPicPr>
          <p:nvPr/>
        </p:nvPicPr>
        <p:blipFill>
          <a:blip r:embed="rId5"/>
          <a:stretch>
            <a:fillRect/>
          </a:stretch>
        </p:blipFill>
        <p:spPr>
          <a:xfrm>
            <a:off x="6541618" y="3066898"/>
            <a:ext cx="358445" cy="358445"/>
          </a:xfrm>
          <a:prstGeom prst="rect">
            <a:avLst/>
          </a:prstGeom>
        </p:spPr>
      </p:pic>
      <p:sp>
        <p:nvSpPr>
          <p:cNvPr id="28" name="Text 23"/>
          <p:cNvSpPr/>
          <p:nvPr/>
        </p:nvSpPr>
        <p:spPr>
          <a:xfrm>
            <a:off x="6400800" y="3657600"/>
            <a:ext cx="2240280" cy="457200"/>
          </a:xfrm>
          <a:prstGeom prst="rect">
            <a:avLst/>
          </a:prstGeom>
          <a:noFill/>
          <a:ln/>
        </p:spPr>
        <p:txBody>
          <a:bodyPr wrap="square" lIns="0" tIns="0" rIns="0" bIns="0"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Outdoor + GPS</a:t>
            </a:r>
            <a:endParaRPr lang="en-US" sz="1600" dirty="0"/>
          </a:p>
        </p:txBody>
      </p:sp>
      <p:sp>
        <p:nvSpPr>
          <p:cNvPr id="29" name="Text 24"/>
          <p:cNvSpPr/>
          <p:nvPr/>
        </p:nvSpPr>
        <p:spPr>
          <a:xfrm>
            <a:off x="6400800" y="4160520"/>
            <a:ext cx="2240280" cy="118872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Support DJI Mini 4 Pro via SDK officiel, missions GPS waypoint.</a:t>
            </a:r>
            <a:endParaRPr lang="en-US" sz="1100" dirty="0"/>
          </a:p>
        </p:txBody>
      </p:sp>
      <p:sp>
        <p:nvSpPr>
          <p:cNvPr id="30" name="Shape 25"/>
          <p:cNvSpPr/>
          <p:nvPr/>
        </p:nvSpPr>
        <p:spPr>
          <a:xfrm>
            <a:off x="10373868" y="1828800"/>
            <a:ext cx="54864" cy="320040"/>
          </a:xfrm>
          <a:prstGeom prst="rect">
            <a:avLst/>
          </a:prstGeom>
          <a:solidFill>
            <a:srgbClr val="06B6D4"/>
          </a:solidFill>
          <a:ln/>
        </p:spPr>
      </p:sp>
      <p:sp>
        <p:nvSpPr>
          <p:cNvPr id="31" name="Shape 26"/>
          <p:cNvSpPr/>
          <p:nvPr/>
        </p:nvSpPr>
        <p:spPr>
          <a:xfrm>
            <a:off x="10291572" y="2103120"/>
            <a:ext cx="219456" cy="219456"/>
          </a:xfrm>
          <a:prstGeom prst="ellipse">
            <a:avLst/>
          </a:prstGeom>
          <a:solidFill>
            <a:srgbClr val="06B6D4"/>
          </a:solidFill>
          <a:ln w="38100">
            <a:solidFill>
              <a:srgbClr val="F8FAFC"/>
            </a:solidFill>
            <a:prstDash val="solid"/>
          </a:ln>
        </p:spPr>
      </p:sp>
      <p:sp>
        <p:nvSpPr>
          <p:cNvPr id="32" name="Shape 27"/>
          <p:cNvSpPr/>
          <p:nvPr/>
        </p:nvSpPr>
        <p:spPr>
          <a:xfrm>
            <a:off x="9052560" y="2423160"/>
            <a:ext cx="2697480" cy="3246120"/>
          </a:xfrm>
          <a:prstGeom prst="rect">
            <a:avLst/>
          </a:prstGeom>
          <a:solidFill>
            <a:srgbClr val="FFFFFF"/>
          </a:solidFill>
          <a:ln w="12700">
            <a:solidFill>
              <a:srgbClr val="E2E8F0"/>
            </a:solidFill>
            <a:prstDash val="solid"/>
          </a:ln>
          <a:effectLst>
            <a:outerShdw blurRad="101600" dist="25400" dir="5400000" algn="bl" rotWithShape="0">
              <a:srgbClr val="0F172A">
                <a:alpha val="5000"/>
              </a:srgbClr>
            </a:outerShdw>
          </a:effectLst>
        </p:spPr>
        <p:txBody>
          <a:bodyPr/>
          <a:lstStyle/>
          <a:p>
            <a:endParaRPr lang="en-US" dirty="0"/>
          </a:p>
        </p:txBody>
      </p:sp>
      <p:sp>
        <p:nvSpPr>
          <p:cNvPr id="33" name="Text 28"/>
          <p:cNvSpPr/>
          <p:nvPr/>
        </p:nvSpPr>
        <p:spPr>
          <a:xfrm>
            <a:off x="9281160" y="2606040"/>
            <a:ext cx="2240280" cy="274320"/>
          </a:xfrm>
          <a:prstGeom prst="rect">
            <a:avLst/>
          </a:prstGeom>
          <a:noFill/>
          <a:ln/>
        </p:spPr>
        <p:txBody>
          <a:bodyPr wrap="square" lIns="0" tIns="0" rIns="0" bIns="0" rtlCol="0" anchor="ctr"/>
          <a:lstStyle/>
          <a:p>
            <a:pPr marL="0" indent="0">
              <a:buNone/>
            </a:pPr>
            <a:r>
              <a:rPr lang="en-US" sz="1100" b="1" kern="0" spc="600" dirty="0">
                <a:solidFill>
                  <a:srgbClr val="06B6D4"/>
                </a:solidFill>
                <a:latin typeface="Calibri" pitchFamily="34" charset="0"/>
                <a:ea typeface="Calibri" pitchFamily="34" charset="-122"/>
                <a:cs typeface="Calibri" pitchFamily="34" charset="-120"/>
              </a:rPr>
              <a:t>Q1 2027</a:t>
            </a:r>
            <a:endParaRPr lang="en-US" sz="1100" dirty="0"/>
          </a:p>
        </p:txBody>
      </p:sp>
      <p:sp>
        <p:nvSpPr>
          <p:cNvPr id="34" name="Shape 29"/>
          <p:cNvSpPr/>
          <p:nvPr/>
        </p:nvSpPr>
        <p:spPr>
          <a:xfrm>
            <a:off x="9281160" y="2926080"/>
            <a:ext cx="640080" cy="640080"/>
          </a:xfrm>
          <a:prstGeom prst="rect">
            <a:avLst/>
          </a:prstGeom>
          <a:solidFill>
            <a:srgbClr val="E0E7FF"/>
          </a:solidFill>
          <a:ln/>
        </p:spPr>
      </p:sp>
      <p:pic>
        <p:nvPicPr>
          <p:cNvPr id="35" name="Image 3" descr="preencoded.png"/>
          <p:cNvPicPr>
            <a:picLocks noChangeAspect="1"/>
          </p:cNvPicPr>
          <p:nvPr/>
        </p:nvPicPr>
        <p:blipFill>
          <a:blip r:embed="rId6"/>
          <a:stretch>
            <a:fillRect/>
          </a:stretch>
        </p:blipFill>
        <p:spPr>
          <a:xfrm>
            <a:off x="9421978" y="3066898"/>
            <a:ext cx="358445" cy="358445"/>
          </a:xfrm>
          <a:prstGeom prst="rect">
            <a:avLst/>
          </a:prstGeom>
        </p:spPr>
      </p:pic>
      <p:sp>
        <p:nvSpPr>
          <p:cNvPr id="36" name="Text 30"/>
          <p:cNvSpPr/>
          <p:nvPr/>
        </p:nvSpPr>
        <p:spPr>
          <a:xfrm>
            <a:off x="9281160" y="3657600"/>
            <a:ext cx="2240280" cy="457200"/>
          </a:xfrm>
          <a:prstGeom prst="rect">
            <a:avLst/>
          </a:prstGeom>
          <a:noFill/>
          <a:ln/>
        </p:spPr>
        <p:txBody>
          <a:bodyPr wrap="square" lIns="0" tIns="0" rIns="0" bIns="0" rtlCol="0" anchor="ctr"/>
          <a:lstStyle/>
          <a:p>
            <a:pPr marL="0" indent="0">
              <a:buNone/>
            </a:pPr>
            <a:r>
              <a:rPr lang="en-US" sz="1600" b="1" dirty="0">
                <a:solidFill>
                  <a:srgbClr val="1E293B"/>
                </a:solidFill>
                <a:latin typeface="Calibri" pitchFamily="34" charset="0"/>
                <a:ea typeface="Calibri" pitchFamily="34" charset="-122"/>
                <a:cs typeface="Calibri" pitchFamily="34" charset="-120"/>
              </a:rPr>
              <a:t>Raspberry</a:t>
            </a:r>
            <a:endParaRPr lang="en-US" sz="1600" dirty="0"/>
          </a:p>
        </p:txBody>
      </p:sp>
      <p:sp>
        <p:nvSpPr>
          <p:cNvPr id="37" name="Text 31"/>
          <p:cNvSpPr/>
          <p:nvPr/>
        </p:nvSpPr>
        <p:spPr>
          <a:xfrm>
            <a:off x="9281160" y="4160520"/>
            <a:ext cx="2240280" cy="1188720"/>
          </a:xfrm>
          <a:prstGeom prst="rect">
            <a:avLst/>
          </a:prstGeom>
          <a:noFill/>
          <a:ln/>
        </p:spPr>
        <p:txBody>
          <a:bodyPr wrap="square" lIns="0" tIns="0" rIns="0" bIns="0" rtlCol="0" anchor="ctr"/>
          <a:lstStyle/>
          <a:p>
            <a:pPr marL="0" indent="0">
              <a:buNone/>
            </a:pPr>
            <a:endParaRPr lang="en-US" sz="1100" dirty="0"/>
          </a:p>
        </p:txBody>
      </p:sp>
      <p:sp>
        <p:nvSpPr>
          <p:cNvPr id="38" name="Text 32"/>
          <p:cNvSpPr/>
          <p:nvPr/>
        </p:nvSpPr>
        <p:spPr>
          <a:xfrm>
            <a:off x="10881360" y="6473952"/>
            <a:ext cx="914400" cy="274320"/>
          </a:xfrm>
          <a:prstGeom prst="rect">
            <a:avLst/>
          </a:prstGeom>
          <a:noFill/>
          <a:ln/>
        </p:spPr>
        <p:txBody>
          <a:bodyPr wrap="square" lIns="0" tIns="0" rIns="0" bIns="0" rtlCol="0" anchor="ctr"/>
          <a:lstStyle/>
          <a:p>
            <a:pPr marL="0" indent="0" algn="r">
              <a:buNone/>
            </a:pPr>
            <a:r>
              <a:rPr lang="en-US" sz="900" kern="0" spc="400" dirty="0">
                <a:solidFill>
                  <a:srgbClr val="94A3B8"/>
                </a:solidFill>
                <a:latin typeface="Calibri" pitchFamily="34" charset="0"/>
                <a:ea typeface="Calibri" pitchFamily="34" charset="-122"/>
                <a:cs typeface="Calibri" pitchFamily="34" charset="-120"/>
              </a:rPr>
              <a:t>07 / 09</a:t>
            </a:r>
            <a:endParaRPr lang="en-US" sz="900" dirty="0"/>
          </a:p>
        </p:txBody>
      </p:sp>
      <p:sp>
        <p:nvSpPr>
          <p:cNvPr id="39" name="Text 33"/>
          <p:cNvSpPr/>
          <p:nvPr/>
        </p:nvSpPr>
        <p:spPr>
          <a:xfrm>
            <a:off x="457200" y="6473952"/>
            <a:ext cx="1828800" cy="274320"/>
          </a:xfrm>
          <a:prstGeom prst="rect">
            <a:avLst/>
          </a:prstGeom>
          <a:noFill/>
          <a:ln/>
        </p:spPr>
        <p:txBody>
          <a:bodyPr wrap="square" lIns="0" tIns="0" rIns="0" bIns="0" rtlCol="0" anchor="ctr"/>
          <a:lstStyle/>
          <a:p>
            <a:pPr marL="0" indent="0" algn="l">
              <a:buNone/>
            </a:pPr>
            <a:r>
              <a:rPr lang="en-US" sz="900" b="1" kern="0" spc="600" dirty="0">
                <a:solidFill>
                  <a:srgbClr val="4338CA"/>
                </a:solidFill>
                <a:latin typeface="Calibri" pitchFamily="34" charset="0"/>
                <a:ea typeface="Calibri" pitchFamily="34" charset="-122"/>
                <a:cs typeface="Calibri" pitchFamily="34" charset="-120"/>
              </a:rPr>
              <a:t>AI-R</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0B1120"/>
        </a:solidFill>
        <a:effectLst/>
      </p:bgPr>
    </p:bg>
    <p:spTree>
      <p:nvGrpSpPr>
        <p:cNvPr id="1" name=""/>
        <p:cNvGrpSpPr/>
        <p:nvPr/>
      </p:nvGrpSpPr>
      <p:grpSpPr>
        <a:xfrm>
          <a:off x="0" y="0"/>
          <a:ext cx="0" cy="0"/>
          <a:chOff x="0" y="0"/>
          <a:chExt cx="0" cy="0"/>
        </a:xfrm>
      </p:grpSpPr>
      <p:sp>
        <p:nvSpPr>
          <p:cNvPr id="2" name="Shape 0"/>
          <p:cNvSpPr/>
          <p:nvPr/>
        </p:nvSpPr>
        <p:spPr>
          <a:xfrm>
            <a:off x="457200" y="457200"/>
            <a:ext cx="457200" cy="457200"/>
          </a:xfrm>
          <a:prstGeom prst="rect">
            <a:avLst/>
          </a:prstGeom>
          <a:solidFill>
            <a:srgbClr val="06B6D4"/>
          </a:solidFill>
          <a:ln/>
        </p:spPr>
      </p:sp>
      <p:sp>
        <p:nvSpPr>
          <p:cNvPr id="3" name="Text 1"/>
          <p:cNvSpPr/>
          <p:nvPr/>
        </p:nvSpPr>
        <p:spPr>
          <a:xfrm>
            <a:off x="457200" y="457200"/>
            <a:ext cx="457200" cy="45720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a:t>
            </a:r>
            <a:endParaRPr lang="en-US" sz="2200" dirty="0"/>
          </a:p>
        </p:txBody>
      </p:sp>
      <p:sp>
        <p:nvSpPr>
          <p:cNvPr id="4" name="Text 2"/>
          <p:cNvSpPr/>
          <p:nvPr/>
        </p:nvSpPr>
        <p:spPr>
          <a:xfrm>
            <a:off x="457200" y="1623060"/>
            <a:ext cx="7315200" cy="365760"/>
          </a:xfrm>
          <a:prstGeom prst="rect">
            <a:avLst/>
          </a:prstGeom>
          <a:noFill/>
          <a:ln/>
        </p:spPr>
        <p:txBody>
          <a:bodyPr wrap="square" lIns="0" tIns="0" rIns="0" bIns="0" rtlCol="0" anchor="ctr"/>
          <a:lstStyle/>
          <a:p>
            <a:pPr marL="0" indent="0">
              <a:buNone/>
            </a:pPr>
            <a:r>
              <a:rPr lang="en-US" sz="1200" b="1" kern="0" spc="800" dirty="0">
                <a:solidFill>
                  <a:srgbClr val="06B6D4"/>
                </a:solidFill>
                <a:latin typeface="Calibri" pitchFamily="34" charset="0"/>
                <a:ea typeface="Calibri" pitchFamily="34" charset="-122"/>
                <a:cs typeface="Calibri" pitchFamily="34" charset="-120"/>
              </a:rPr>
              <a:t>CONCLUSION · 07</a:t>
            </a:r>
            <a:endParaRPr lang="en-US" sz="1200" dirty="0"/>
          </a:p>
        </p:txBody>
      </p:sp>
      <p:sp>
        <p:nvSpPr>
          <p:cNvPr id="5" name="Text 3"/>
          <p:cNvSpPr/>
          <p:nvPr/>
        </p:nvSpPr>
        <p:spPr>
          <a:xfrm>
            <a:off x="457200" y="1874520"/>
            <a:ext cx="10972800" cy="2743200"/>
          </a:xfrm>
          <a:prstGeom prst="rect">
            <a:avLst/>
          </a:prstGeom>
          <a:noFill/>
          <a:ln/>
        </p:spPr>
        <p:txBody>
          <a:bodyPr wrap="square" lIns="0" tIns="0" rIns="0" bIns="0" rtlCol="0" anchor="ctr"/>
          <a:lstStyle/>
          <a:p>
            <a:pPr marL="0" indent="0">
              <a:buNone/>
            </a:pPr>
            <a:endParaRPr lang="en-US" sz="5600" dirty="0"/>
          </a:p>
        </p:txBody>
      </p:sp>
      <p:sp>
        <p:nvSpPr>
          <p:cNvPr id="6" name="Shape 4"/>
          <p:cNvSpPr/>
          <p:nvPr/>
        </p:nvSpPr>
        <p:spPr>
          <a:xfrm>
            <a:off x="457200" y="5120640"/>
            <a:ext cx="45720" cy="822960"/>
          </a:xfrm>
          <a:prstGeom prst="rect">
            <a:avLst/>
          </a:prstGeom>
          <a:solidFill>
            <a:srgbClr val="06B6D4"/>
          </a:solidFill>
          <a:ln/>
        </p:spPr>
      </p:sp>
      <p:sp>
        <p:nvSpPr>
          <p:cNvPr id="7" name="Text 5"/>
          <p:cNvSpPr/>
          <p:nvPr/>
        </p:nvSpPr>
        <p:spPr>
          <a:xfrm>
            <a:off x="640080" y="5120640"/>
            <a:ext cx="3474720" cy="45720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1 ordre</a:t>
            </a:r>
            <a:endParaRPr lang="en-US" sz="2600" dirty="0"/>
          </a:p>
        </p:txBody>
      </p:sp>
      <p:sp>
        <p:nvSpPr>
          <p:cNvPr id="8" name="Text 6"/>
          <p:cNvSpPr/>
          <p:nvPr/>
        </p:nvSpPr>
        <p:spPr>
          <a:xfrm>
            <a:off x="640080" y="5577840"/>
            <a:ext cx="3474720" cy="320040"/>
          </a:xfrm>
          <a:prstGeom prst="rect">
            <a:avLst/>
          </a:prstGeom>
          <a:noFill/>
          <a:ln/>
        </p:spPr>
        <p:txBody>
          <a:bodyPr wrap="square" lIns="0" tIns="0" rIns="0" bIns="0" rtlCol="0" anchor="ctr"/>
          <a:lstStyle/>
          <a:p>
            <a:pPr marL="0" indent="0">
              <a:buNone/>
            </a:pPr>
            <a:r>
              <a:rPr lang="en-US" sz="1300" dirty="0">
                <a:solidFill>
                  <a:srgbClr val="94A3B8"/>
                </a:solidFill>
                <a:latin typeface="Calibri" pitchFamily="34" charset="0"/>
                <a:ea typeface="Calibri" pitchFamily="34" charset="-122"/>
                <a:cs typeface="Calibri" pitchFamily="34" charset="-120"/>
              </a:rPr>
              <a:t>en langage naturel suffit</a:t>
            </a:r>
            <a:endParaRPr lang="en-US" sz="1300" dirty="0"/>
          </a:p>
        </p:txBody>
      </p:sp>
      <p:sp>
        <p:nvSpPr>
          <p:cNvPr id="9" name="Shape 7"/>
          <p:cNvSpPr/>
          <p:nvPr/>
        </p:nvSpPr>
        <p:spPr>
          <a:xfrm>
            <a:off x="4297680" y="5120640"/>
            <a:ext cx="45720" cy="822960"/>
          </a:xfrm>
          <a:prstGeom prst="rect">
            <a:avLst/>
          </a:prstGeom>
          <a:solidFill>
            <a:srgbClr val="06B6D4"/>
          </a:solidFill>
          <a:ln/>
        </p:spPr>
      </p:sp>
      <p:sp>
        <p:nvSpPr>
          <p:cNvPr id="10" name="Text 8"/>
          <p:cNvSpPr/>
          <p:nvPr/>
        </p:nvSpPr>
        <p:spPr>
          <a:xfrm>
            <a:off x="4480560" y="5120640"/>
            <a:ext cx="3474720" cy="45720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30 fps</a:t>
            </a:r>
            <a:endParaRPr lang="en-US" sz="2600" dirty="0"/>
          </a:p>
        </p:txBody>
      </p:sp>
      <p:sp>
        <p:nvSpPr>
          <p:cNvPr id="11" name="Text 9"/>
          <p:cNvSpPr/>
          <p:nvPr/>
        </p:nvSpPr>
        <p:spPr>
          <a:xfrm>
            <a:off x="4480560" y="5577840"/>
            <a:ext cx="3474720" cy="320040"/>
          </a:xfrm>
          <a:prstGeom prst="rect">
            <a:avLst/>
          </a:prstGeom>
          <a:noFill/>
          <a:ln/>
        </p:spPr>
        <p:txBody>
          <a:bodyPr wrap="square" lIns="0" tIns="0" rIns="0" bIns="0" rtlCol="0" anchor="ctr"/>
          <a:lstStyle/>
          <a:p>
            <a:pPr marL="0" indent="0">
              <a:buNone/>
            </a:pPr>
            <a:r>
              <a:rPr lang="en-US" sz="1300" dirty="0">
                <a:solidFill>
                  <a:srgbClr val="94A3B8"/>
                </a:solidFill>
                <a:latin typeface="Calibri" pitchFamily="34" charset="0"/>
                <a:ea typeface="Calibri" pitchFamily="34" charset="-122"/>
                <a:cs typeface="Calibri" pitchFamily="34" charset="-120"/>
              </a:rPr>
              <a:t>de vision YOLO embarquée</a:t>
            </a:r>
            <a:endParaRPr lang="en-US" sz="1300" dirty="0"/>
          </a:p>
        </p:txBody>
      </p:sp>
      <p:sp>
        <p:nvSpPr>
          <p:cNvPr id="12" name="Shape 10"/>
          <p:cNvSpPr/>
          <p:nvPr/>
        </p:nvSpPr>
        <p:spPr>
          <a:xfrm>
            <a:off x="8138160" y="5120640"/>
            <a:ext cx="45720" cy="822960"/>
          </a:xfrm>
          <a:prstGeom prst="rect">
            <a:avLst/>
          </a:prstGeom>
          <a:solidFill>
            <a:srgbClr val="06B6D4"/>
          </a:solidFill>
          <a:ln/>
        </p:spPr>
      </p:sp>
      <p:sp>
        <p:nvSpPr>
          <p:cNvPr id="13" name="Text 11"/>
          <p:cNvSpPr/>
          <p:nvPr/>
        </p:nvSpPr>
        <p:spPr>
          <a:xfrm>
            <a:off x="8321040" y="5120640"/>
            <a:ext cx="3474720" cy="45720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150 €</a:t>
            </a:r>
            <a:endParaRPr lang="en-US" sz="2600" dirty="0"/>
          </a:p>
        </p:txBody>
      </p:sp>
      <p:sp>
        <p:nvSpPr>
          <p:cNvPr id="14" name="Text 12"/>
          <p:cNvSpPr/>
          <p:nvPr/>
        </p:nvSpPr>
        <p:spPr>
          <a:xfrm>
            <a:off x="8321040" y="5577840"/>
            <a:ext cx="3474720" cy="320040"/>
          </a:xfrm>
          <a:prstGeom prst="rect">
            <a:avLst/>
          </a:prstGeom>
          <a:noFill/>
          <a:ln/>
        </p:spPr>
        <p:txBody>
          <a:bodyPr wrap="square" lIns="0" tIns="0" rIns="0" bIns="0" rtlCol="0" anchor="ctr"/>
          <a:lstStyle/>
          <a:p>
            <a:pPr marL="0" indent="0">
              <a:buNone/>
            </a:pPr>
            <a:r>
              <a:rPr lang="en-US" sz="1300" dirty="0">
                <a:solidFill>
                  <a:srgbClr val="94A3B8"/>
                </a:solidFill>
                <a:latin typeface="Calibri" pitchFamily="34" charset="0"/>
                <a:ea typeface="Calibri" pitchFamily="34" charset="-122"/>
                <a:cs typeface="Calibri" pitchFamily="34" charset="-120"/>
              </a:rPr>
              <a:t>le drone, et c'est open source</a:t>
            </a:r>
            <a:endParaRPr lang="en-US" sz="1300" dirty="0"/>
          </a:p>
        </p:txBody>
      </p:sp>
      <p:sp>
        <p:nvSpPr>
          <p:cNvPr id="15" name="Text 13"/>
          <p:cNvSpPr/>
          <p:nvPr/>
        </p:nvSpPr>
        <p:spPr>
          <a:xfrm>
            <a:off x="7589520" y="6400800"/>
            <a:ext cx="4114800" cy="274320"/>
          </a:xfrm>
          <a:prstGeom prst="rect">
            <a:avLst/>
          </a:prstGeom>
          <a:noFill/>
          <a:ln/>
        </p:spPr>
        <p:txBody>
          <a:bodyPr wrap="square" lIns="0" tIns="0" rIns="0" bIns="0" rtlCol="0" anchor="ctr"/>
          <a:lstStyle/>
          <a:p>
            <a:pPr marL="0" indent="0" algn="r">
              <a:buNone/>
            </a:pPr>
            <a:r>
              <a:rPr lang="en-US" sz="1100" kern="0" spc="200" dirty="0">
                <a:solidFill>
                  <a:srgbClr val="06B6D4"/>
                </a:solidFill>
                <a:latin typeface="Calibri" pitchFamily="34" charset="0"/>
                <a:ea typeface="Calibri" pitchFamily="34" charset="-122"/>
                <a:cs typeface="Calibri" pitchFamily="34" charset="-120"/>
              </a:rPr>
              <a:t>github.com/devMehdi485/Ai-r</a:t>
            </a:r>
            <a:endParaRPr lang="en-US" sz="1100" dirty="0"/>
          </a:p>
        </p:txBody>
      </p:sp>
      <p:sp>
        <p:nvSpPr>
          <p:cNvPr id="16" name="ZoneTexte 15">
            <a:extLst>
              <a:ext uri="{FF2B5EF4-FFF2-40B4-BE49-F238E27FC236}">
                <a16:creationId xmlns:a16="http://schemas.microsoft.com/office/drawing/2014/main" id="{A7024B66-3B49-C98A-6828-2ED79D0A9221}"/>
              </a:ext>
            </a:extLst>
          </p:cNvPr>
          <p:cNvSpPr txBox="1"/>
          <p:nvPr/>
        </p:nvSpPr>
        <p:spPr>
          <a:xfrm>
            <a:off x="337930" y="2424632"/>
            <a:ext cx="8977023" cy="1200329"/>
          </a:xfrm>
          <a:prstGeom prst="rect">
            <a:avLst/>
          </a:prstGeom>
          <a:noFill/>
        </p:spPr>
        <p:txBody>
          <a:bodyPr wrap="square" rtlCol="0">
            <a:spAutoFit/>
          </a:bodyPr>
          <a:lstStyle/>
          <a:p>
            <a:r>
              <a:rPr lang="fr-FR" dirty="0">
                <a:solidFill>
                  <a:schemeClr val="bg1"/>
                </a:solidFill>
              </a:rPr>
              <a:t>Si cette technologie peut protéger nos soldats en zone de guerre, elle est aussi la clé pour la paix : demain, ces mêmes drones autonomes pourront patrouiller pour sécuriser le retour des populations déplacées dans leurs villages, sans qu'un humain n'ait à risquer sa vie sur une route potentiellement minée.</a:t>
            </a:r>
            <a:endParaRPr lang="en-US" dirty="0">
              <a:solidFill>
                <a:schemeClr val="bg1"/>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ZoneTexte 1">
            <a:extLst>
              <a:ext uri="{FF2B5EF4-FFF2-40B4-BE49-F238E27FC236}">
                <a16:creationId xmlns:a16="http://schemas.microsoft.com/office/drawing/2014/main" id="{AC7C0ED2-12EE-F3C4-6B83-7C82367F657F}"/>
              </a:ext>
            </a:extLst>
          </p:cNvPr>
          <p:cNvSpPr txBox="1"/>
          <p:nvPr/>
        </p:nvSpPr>
        <p:spPr>
          <a:xfrm>
            <a:off x="3124864" y="2894274"/>
            <a:ext cx="4723074" cy="584775"/>
          </a:xfrm>
          <a:prstGeom prst="rect">
            <a:avLst/>
          </a:prstGeom>
          <a:noFill/>
        </p:spPr>
        <p:txBody>
          <a:bodyPr wrap="square" rtlCol="0">
            <a:spAutoFit/>
          </a:bodyPr>
          <a:lstStyle/>
          <a:p>
            <a:pPr algn="ctr"/>
            <a:r>
              <a:rPr lang="en-US" sz="3200" b="1" dirty="0"/>
              <a:t>MERCI</a:t>
            </a:r>
          </a:p>
        </p:txBody>
      </p:sp>
    </p:spTree>
    <p:extLst>
      <p:ext uri="{BB962C8B-B14F-4D97-AF65-F5344CB8AC3E}">
        <p14:creationId xmlns:p14="http://schemas.microsoft.com/office/powerpoint/2010/main" val="12719513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752</TotalTime>
  <Words>830</Words>
  <Application>Microsoft Office PowerPoint</Application>
  <PresentationFormat>Grand écran</PresentationFormat>
  <Paragraphs>161</Paragraphs>
  <Slides>12</Slides>
  <Notes>10</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12</vt:i4>
      </vt:variant>
    </vt:vector>
  </HeadingPairs>
  <TitlesOfParts>
    <vt:vector size="15" baseType="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AI-R · Drone Autonome</dc:title>
  <dc:subject>PptxGenJS Presentation</dc:subject>
  <dc:creator>AI-R Team</dc:creator>
  <cp:lastModifiedBy>djide rx</cp:lastModifiedBy>
  <cp:revision>3</cp:revision>
  <dcterms:created xsi:type="dcterms:W3CDTF">2026-05-11T20:03:55Z</dcterms:created>
  <dcterms:modified xsi:type="dcterms:W3CDTF">2026-05-12T15:57:23Z</dcterms:modified>
</cp:coreProperties>
</file>